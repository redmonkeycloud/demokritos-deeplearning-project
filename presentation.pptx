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5" r:id="rId7"/>
    <p:sldId id="266" r:id="rId8"/>
    <p:sldId id="267" r:id="rId9"/>
    <p:sldId id="268" r:id="rId10"/>
    <p:sldId id="269" r:id="rId11"/>
    <p:sldId id="271" r:id="rId12"/>
    <p:sldId id="273" r:id="rId13"/>
    <p:sldId id="275" r:id="rId14"/>
    <p:sldId id="276" r:id="rId15"/>
    <p:sldId id="278" r:id="rId16"/>
    <p:sldId id="279" r:id="rId17"/>
    <p:sldId id="283" r:id="rId18"/>
    <p:sldId id="284" r:id="rId19"/>
    <p:sldId id="286" r:id="rId20"/>
    <p:sldId id="287" r:id="rId21"/>
    <p:sldId id="288" r:id="rId22"/>
    <p:sldId id="290" r:id="rId23"/>
    <p:sldId id="291" r:id="rId24"/>
    <p:sldId id="293" r:id="rId25"/>
    <p:sldId id="294" r:id="rId26"/>
    <p:sldId id="296" r:id="rId27"/>
    <p:sldId id="298" r:id="rId28"/>
    <p:sldId id="299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1228832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1122883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241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400" b="1" dirty="0">
                <a:solidFill>
                  <a:srgbClr val="1F3864"/>
                </a:solidFill>
              </a:rPr>
              <a:t>Deep Learning</a:t>
            </a:r>
            <a:endParaRPr sz="3400" b="1" i="0" dirty="0">
              <a:solidFill>
                <a:srgbClr val="1F386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241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2E75B6"/>
                </a:solidFill>
              </a:rPr>
              <a:t>Αν</a:t>
            </a:r>
            <a:r>
              <a:rPr sz="2600" b="1" i="0" dirty="0">
                <a:solidFill>
                  <a:srgbClr val="2E75B6"/>
                </a:solidFill>
              </a:rPr>
              <a:t>αγνώριση Συναισθήματος από Ομιλία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514600"/>
            <a:ext cx="73152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3003550"/>
            <a:ext cx="9811512" cy="127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1F3864"/>
                </a:solidFill>
              </a:rPr>
              <a:t>Γκάρο</a:t>
            </a:r>
            <a:r>
              <a:rPr sz="1500" b="1" i="0" dirty="0">
                <a:solidFill>
                  <a:srgbClr val="1F3864"/>
                </a:solidFill>
              </a:rPr>
              <a:t> </a:t>
            </a:r>
            <a:r>
              <a:rPr sz="1500" b="1" i="0" dirty="0" err="1">
                <a:solidFill>
                  <a:srgbClr val="1F3864"/>
                </a:solidFill>
              </a:rPr>
              <a:t>Αριστοτέλης</a:t>
            </a:r>
            <a:r>
              <a:rPr sz="1500" b="1" i="0" dirty="0">
                <a:solidFill>
                  <a:srgbClr val="1F3864"/>
                </a:solidFill>
              </a:rPr>
              <a:t>  (mtn2503)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1F3864"/>
                </a:solidFill>
              </a:rPr>
              <a:t>Πλέσσι</a:t>
            </a:r>
            <a:r>
              <a:rPr sz="1500" b="0" i="0" dirty="0">
                <a:solidFill>
                  <a:srgbClr val="1F3864"/>
                </a:solidFill>
              </a:rPr>
              <a:t>ας Γιώργος  (mtn2524)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1F3864"/>
                </a:solidFill>
              </a:rPr>
              <a:t>Τσ</a:t>
            </a:r>
            <a:r>
              <a:rPr sz="1500" b="0" i="0" dirty="0">
                <a:solidFill>
                  <a:srgbClr val="1F3864"/>
                </a:solidFill>
              </a:rPr>
              <a:t>αγκέτας Ορέστης  (mtn2527)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Περιεχόμενα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454396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Dataset — IEMOCAP</a:t>
            </a: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</a:t>
            </a:r>
            <a:r>
              <a:rPr sz="1800" b="1" dirty="0" err="1">
                <a:solidFill>
                  <a:srgbClr val="1A1A1A"/>
                </a:solidFill>
              </a:rPr>
              <a:t>Πειρ</a:t>
            </a:r>
            <a:r>
              <a:rPr sz="1800" b="1" dirty="0">
                <a:solidFill>
                  <a:srgbClr val="1A1A1A"/>
                </a:solidFill>
              </a:rPr>
              <a:t>αματικό Πρωτόκολλο (80/20 και LOSO)</a:t>
            </a: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</a:t>
            </a:r>
            <a:r>
              <a:rPr sz="1800" b="1" dirty="0" err="1">
                <a:solidFill>
                  <a:srgbClr val="1A1A1A"/>
                </a:solidFill>
              </a:rPr>
              <a:t>Αν</a:t>
            </a:r>
            <a:r>
              <a:rPr sz="1800" b="1" dirty="0">
                <a:solidFill>
                  <a:srgbClr val="1A1A1A"/>
                </a:solidFill>
              </a:rPr>
              <a:t>απαραστάσεις Εισόδου</a:t>
            </a: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</a:t>
            </a:r>
            <a:r>
              <a:rPr sz="1800" b="1" dirty="0" err="1">
                <a:solidFill>
                  <a:srgbClr val="1A1A1A"/>
                </a:solidFill>
              </a:rPr>
              <a:t>Αρχιτεκτονικές</a:t>
            </a:r>
            <a:r>
              <a:rPr sz="1800" b="1" dirty="0">
                <a:solidFill>
                  <a:srgbClr val="1A1A1A"/>
                </a:solidFill>
              </a:rPr>
              <a:t>: MLP, CNN, CNN-LSTM, wav2vec2</a:t>
            </a: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Training Setup</a:t>
            </a: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Απ</a:t>
            </a:r>
            <a:r>
              <a:rPr sz="1800" b="1" dirty="0" err="1">
                <a:solidFill>
                  <a:srgbClr val="1A1A1A"/>
                </a:solidFill>
              </a:rPr>
              <a:t>οτελέσμ</a:t>
            </a:r>
            <a:r>
              <a:rPr sz="1800" b="1" dirty="0">
                <a:solidFill>
                  <a:srgbClr val="1A1A1A"/>
                </a:solidFill>
              </a:rPr>
              <a:t>ατα 80/20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229" y="1261872"/>
            <a:ext cx="5454396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Απ</a:t>
            </a:r>
            <a:r>
              <a:rPr sz="1800" b="1" dirty="0" err="1">
                <a:solidFill>
                  <a:srgbClr val="1A1A1A"/>
                </a:solidFill>
              </a:rPr>
              <a:t>οτελέσμ</a:t>
            </a:r>
            <a:r>
              <a:rPr sz="1800" b="1" dirty="0">
                <a:solidFill>
                  <a:srgbClr val="1A1A1A"/>
                </a:solidFill>
              </a:rPr>
              <a:t>ατα LOSO</a:t>
            </a: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Confusion Matrices &amp; Training Curves</a:t>
            </a:r>
          </a:p>
          <a:p>
            <a:pPr>
              <a:spcBef>
                <a:spcPts val="900"/>
              </a:spcBef>
            </a:pP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wav2vec2 </a:t>
            </a:r>
            <a:r>
              <a:rPr sz="1800" b="1" dirty="0" err="1">
                <a:solidFill>
                  <a:srgbClr val="1A1A1A"/>
                </a:solidFill>
              </a:rPr>
              <a:t>Ερμηνευσιμότητ</a:t>
            </a:r>
            <a:r>
              <a:rPr sz="1800" b="1" dirty="0">
                <a:solidFill>
                  <a:srgbClr val="1A1A1A"/>
                </a:solidFill>
              </a:rPr>
              <a:t>α</a:t>
            </a:r>
          </a:p>
          <a:p>
            <a:pPr>
              <a:spcBef>
                <a:spcPts val="900"/>
              </a:spcBef>
            </a:pP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Robustness </a:t>
            </a:r>
            <a:r>
              <a:rPr sz="1800" b="1" dirty="0" err="1">
                <a:solidFill>
                  <a:srgbClr val="1A1A1A"/>
                </a:solidFill>
              </a:rPr>
              <a:t>σε</a:t>
            </a:r>
            <a:r>
              <a:rPr sz="1800" b="1" dirty="0">
                <a:solidFill>
                  <a:srgbClr val="1A1A1A"/>
                </a:solidFill>
              </a:rPr>
              <a:t> </a:t>
            </a:r>
            <a:r>
              <a:rPr sz="1800" b="1" dirty="0" err="1">
                <a:solidFill>
                  <a:srgbClr val="1A1A1A"/>
                </a:solidFill>
              </a:rPr>
              <a:t>Θόρυ</a:t>
            </a:r>
            <a:r>
              <a:rPr sz="1800" b="1" dirty="0">
                <a:solidFill>
                  <a:srgbClr val="1A1A1A"/>
                </a:solidFill>
              </a:rPr>
              <a:t>βο</a:t>
            </a:r>
          </a:p>
          <a:p>
            <a:pPr>
              <a:spcBef>
                <a:spcPts val="900"/>
              </a:spcBef>
            </a:pP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</a:t>
            </a:r>
            <a:r>
              <a:rPr sz="1800" b="1" dirty="0" err="1">
                <a:solidFill>
                  <a:srgbClr val="1A1A1A"/>
                </a:solidFill>
              </a:rPr>
              <a:t>Σύγκριση</a:t>
            </a:r>
            <a:r>
              <a:rPr sz="1800" b="1" dirty="0">
                <a:solidFill>
                  <a:srgbClr val="1A1A1A"/>
                </a:solidFill>
              </a:rPr>
              <a:t> </a:t>
            </a:r>
            <a:r>
              <a:rPr sz="1800" b="1" dirty="0" err="1">
                <a:solidFill>
                  <a:srgbClr val="1A1A1A"/>
                </a:solidFill>
              </a:rPr>
              <a:t>Πρωτοκόλλων</a:t>
            </a: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endParaRPr lang="en-US"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</a:t>
            </a:r>
            <a:r>
              <a:rPr sz="1800" b="1" dirty="0" err="1">
                <a:solidFill>
                  <a:srgbClr val="1A1A1A"/>
                </a:solidFill>
              </a:rPr>
              <a:t>Συμ</a:t>
            </a:r>
            <a:r>
              <a:rPr sz="1800" b="1" dirty="0">
                <a:solidFill>
                  <a:srgbClr val="1A1A1A"/>
                </a:solidFill>
              </a:rPr>
              <a:t>περάσματα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621792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</a:t>
            </a:r>
            <a:r>
              <a:rPr lang="en-US" sz="1800" b="1" dirty="0">
                <a:solidFill>
                  <a:srgbClr val="1A1A1A"/>
                </a:solidFill>
              </a:rPr>
              <a:t>IEMOCAP</a:t>
            </a:r>
            <a:endParaRPr sz="1800" b="1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10 </a:t>
            </a:r>
            <a:r>
              <a:rPr sz="1800" b="1" dirty="0" err="1">
                <a:solidFill>
                  <a:srgbClr val="1A1A1A"/>
                </a:solidFill>
              </a:rPr>
              <a:t>ομιλητές</a:t>
            </a:r>
            <a:r>
              <a:rPr sz="1800" b="1" dirty="0">
                <a:solidFill>
                  <a:srgbClr val="1A1A1A"/>
                </a:solidFill>
              </a:rPr>
              <a:t> — 5 sessions × (1 </a:t>
            </a:r>
            <a:r>
              <a:rPr sz="1800" b="1" dirty="0" err="1">
                <a:solidFill>
                  <a:srgbClr val="1A1A1A"/>
                </a:solidFill>
              </a:rPr>
              <a:t>άνδρ</a:t>
            </a:r>
            <a:r>
              <a:rPr sz="1800" b="1" dirty="0">
                <a:solidFill>
                  <a:srgbClr val="1A1A1A"/>
                </a:solidFill>
              </a:rPr>
              <a:t>ας + 1 γυναίκα)</a:t>
            </a: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4 </a:t>
            </a:r>
            <a:r>
              <a:rPr sz="1800" b="1" dirty="0" err="1">
                <a:solidFill>
                  <a:srgbClr val="1A1A1A"/>
                </a:solidFill>
              </a:rPr>
              <a:t>κλάσεις</a:t>
            </a:r>
            <a:r>
              <a:rPr sz="1800" b="1" dirty="0">
                <a:solidFill>
                  <a:srgbClr val="1A1A1A"/>
                </a:solidFill>
              </a:rPr>
              <a:t>: angry, happy, neutral, sad</a:t>
            </a:r>
          </a:p>
          <a:p>
            <a:pPr>
              <a:spcBef>
                <a:spcPts val="300"/>
              </a:spcBef>
            </a:pPr>
            <a:r>
              <a:rPr sz="1600" b="0" dirty="0">
                <a:solidFill>
                  <a:srgbClr val="1A1A1A"/>
                </a:solidFill>
              </a:rPr>
              <a:t>  — happy = </a:t>
            </a:r>
            <a:r>
              <a:rPr sz="1600" b="0" dirty="0" err="1">
                <a:solidFill>
                  <a:srgbClr val="1A1A1A"/>
                </a:solidFill>
              </a:rPr>
              <a:t>ενο</a:t>
            </a:r>
            <a:r>
              <a:rPr sz="1600" b="0" dirty="0">
                <a:solidFill>
                  <a:srgbClr val="1A1A1A"/>
                </a:solidFill>
              </a:rPr>
              <a:t>ποίηση ετικετών happy + excited</a:t>
            </a:r>
          </a:p>
          <a:p>
            <a:pPr>
              <a:spcBef>
                <a:spcPts val="900"/>
              </a:spcBef>
            </a:pPr>
            <a:r>
              <a:rPr sz="1800" b="1" dirty="0">
                <a:solidFill>
                  <a:srgbClr val="1A1A1A"/>
                </a:solidFill>
              </a:rPr>
              <a:t>• 5.531 utterances, WAV 16 kHz, </a:t>
            </a:r>
            <a:r>
              <a:rPr sz="1800" b="1" dirty="0" err="1">
                <a:solidFill>
                  <a:srgbClr val="1A1A1A"/>
                </a:solidFill>
              </a:rPr>
              <a:t>διάρκει</a:t>
            </a:r>
            <a:r>
              <a:rPr sz="1800" b="1" dirty="0">
                <a:solidFill>
                  <a:srgbClr val="1A1A1A"/>
                </a:solidFill>
              </a:rPr>
              <a:t>α 1–8 sec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261872"/>
          <a:ext cx="478231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Κλάση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1.708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30,9%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happy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1.636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29,6%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angry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1.103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19,9%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sad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1.084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19,6%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Σύνολο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5.531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 err="1">
                <a:solidFill>
                  <a:srgbClr val="FFFFFF"/>
                </a:solidFill>
              </a:rPr>
              <a:t>Πειρ</a:t>
            </a:r>
            <a:r>
              <a:rPr sz="2500" b="1" i="0" dirty="0">
                <a:solidFill>
                  <a:srgbClr val="FFFFFF"/>
                </a:solidFill>
              </a:rPr>
              <a:t>αματικό Πρωτόκολλο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46828"/>
              </p:ext>
            </p:extLst>
          </p:nvPr>
        </p:nvGraphicFramePr>
        <p:xfrm>
          <a:off x="457200" y="1261872"/>
          <a:ext cx="11274551" cy="2026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4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053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80/20 Split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LOSO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5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Διαχωρισμός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Τυχαίος stratified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Held-out speaker (Ses05M)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05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4.424 utterances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4.934 utterances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05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Test /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1.107 utterances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</a:rPr>
                        <a:t>597 utterances (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</a:rPr>
                        <a:t>μόνο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</a:rPr>
                        <a:t> Ses05M)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05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10% train (stratified)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10% train (stratified)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05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Speaker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b="0" dirty="0">
                          <a:solidFill>
                            <a:srgbClr val="1A1A1A"/>
                          </a:solidFill>
                        </a:rPr>
                        <a:t>Ναι</a:t>
                      </a:r>
                      <a:endParaRPr sz="1400" b="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b="0" dirty="0">
                          <a:solidFill>
                            <a:srgbClr val="1A1A1A"/>
                          </a:solidFill>
                        </a:rPr>
                        <a:t>Οχι</a:t>
                      </a:r>
                      <a:endParaRPr sz="1400" b="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1DE9C2-3D6A-4ED7-B1FB-7CFCB9FE4389}"/>
              </a:ext>
            </a:extLst>
          </p:cNvPr>
          <p:cNvSpPr/>
          <p:nvPr/>
        </p:nvSpPr>
        <p:spPr>
          <a:xfrm>
            <a:off x="530352" y="3452489"/>
            <a:ext cx="3666744" cy="43182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F4708F-5930-4F55-BBC2-49D244396BCB}"/>
              </a:ext>
            </a:extLst>
          </p:cNvPr>
          <p:cNvSpPr/>
          <p:nvPr/>
        </p:nvSpPr>
        <p:spPr>
          <a:xfrm>
            <a:off x="530352" y="3452489"/>
            <a:ext cx="73152" cy="4318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A4209D-6F0C-4C4D-8F92-6D48D36A8E59}"/>
              </a:ext>
            </a:extLst>
          </p:cNvPr>
          <p:cNvSpPr txBox="1"/>
          <p:nvPr/>
        </p:nvSpPr>
        <p:spPr>
          <a:xfrm>
            <a:off x="640080" y="3489065"/>
            <a:ext cx="3529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Handcrafted Features</a:t>
            </a:r>
            <a:r>
              <a:rPr lang="en-US" sz="1500" b="1" i="0" dirty="0">
                <a:solidFill>
                  <a:srgbClr val="FFFFFF"/>
                </a:solidFill>
              </a:rPr>
              <a:t> ( </a:t>
            </a:r>
            <a:r>
              <a:rPr lang="en-US" sz="1600" b="1" i="0" dirty="0">
                <a:solidFill>
                  <a:srgbClr val="FFFFFF"/>
                </a:solidFill>
              </a:rPr>
              <a:t>MLP )</a:t>
            </a:r>
            <a:endParaRPr sz="1500" b="1" i="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D1F7CF-001D-4847-B7F8-17C2F34B1D7E}"/>
              </a:ext>
            </a:extLst>
          </p:cNvPr>
          <p:cNvSpPr txBox="1"/>
          <p:nvPr/>
        </p:nvSpPr>
        <p:spPr>
          <a:xfrm>
            <a:off x="621792" y="4019417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272 διαστάσεις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1D430A-5A48-4E73-ABF9-EF2C04E1A9A2}"/>
              </a:ext>
            </a:extLst>
          </p:cNvPr>
          <p:cNvSpPr txBox="1"/>
          <p:nvPr/>
        </p:nvSpPr>
        <p:spPr>
          <a:xfrm>
            <a:off x="621792" y="4504049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MFCCs, chroma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641D1-D658-4D03-8793-C1751D66DCE6}"/>
              </a:ext>
            </a:extLst>
          </p:cNvPr>
          <p:cNvSpPr txBox="1"/>
          <p:nvPr/>
        </p:nvSpPr>
        <p:spPr>
          <a:xfrm>
            <a:off x="621792" y="4988681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spectral descriptors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B780B1-8609-4E35-B6A7-E8A467959FFF}"/>
              </a:ext>
            </a:extLst>
          </p:cNvPr>
          <p:cNvSpPr txBox="1"/>
          <p:nvPr/>
        </p:nvSpPr>
        <p:spPr>
          <a:xfrm>
            <a:off x="621792" y="5473313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energy, ZCR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6F8E0-BF62-4761-A496-8EC55A81536E}"/>
              </a:ext>
            </a:extLst>
          </p:cNvPr>
          <p:cNvSpPr txBox="1"/>
          <p:nvPr/>
        </p:nvSpPr>
        <p:spPr>
          <a:xfrm>
            <a:off x="621792" y="5957945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temporal deltas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0627BE-B599-4B31-B358-96D74CF40B9D}"/>
              </a:ext>
            </a:extLst>
          </p:cNvPr>
          <p:cNvSpPr/>
          <p:nvPr/>
        </p:nvSpPr>
        <p:spPr>
          <a:xfrm>
            <a:off x="4334256" y="3452489"/>
            <a:ext cx="3666744" cy="43182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510D34-E6D2-4FAF-93E8-EA2792C4646E}"/>
              </a:ext>
            </a:extLst>
          </p:cNvPr>
          <p:cNvSpPr/>
          <p:nvPr/>
        </p:nvSpPr>
        <p:spPr>
          <a:xfrm>
            <a:off x="4334256" y="3452489"/>
            <a:ext cx="73152" cy="4318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F6A6F3-6625-4590-AF32-FBB73D79AAA0}"/>
              </a:ext>
            </a:extLst>
          </p:cNvPr>
          <p:cNvSpPr txBox="1"/>
          <p:nvPr/>
        </p:nvSpPr>
        <p:spPr>
          <a:xfrm>
            <a:off x="4443984" y="3489065"/>
            <a:ext cx="3529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Mel-Spectrogram</a:t>
            </a:r>
            <a:r>
              <a:rPr lang="en-US" sz="1500" b="1" i="0" dirty="0">
                <a:solidFill>
                  <a:srgbClr val="FFFFFF"/>
                </a:solidFill>
              </a:rPr>
              <a:t> ( </a:t>
            </a:r>
            <a:r>
              <a:rPr lang="en-US" sz="1600" b="1" i="0" dirty="0">
                <a:solidFill>
                  <a:srgbClr val="FFFFFF"/>
                </a:solidFill>
              </a:rPr>
              <a:t>CNN  /  CNN-LSTM </a:t>
            </a:r>
            <a:r>
              <a:rPr lang="en-US" sz="1500" b="1" i="0" dirty="0">
                <a:solidFill>
                  <a:srgbClr val="FFFFFF"/>
                </a:solidFill>
              </a:rPr>
              <a:t>)</a:t>
            </a:r>
            <a:endParaRPr sz="1500" b="1" i="0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894FAE-24F8-4DC6-84FD-11498FAE9BFE}"/>
              </a:ext>
            </a:extLst>
          </p:cNvPr>
          <p:cNvSpPr txBox="1"/>
          <p:nvPr/>
        </p:nvSpPr>
        <p:spPr>
          <a:xfrm>
            <a:off x="4425696" y="4019417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Σχήμα (1, 128, 300)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07AE08-1212-423C-95FF-03D477AFD6E3}"/>
              </a:ext>
            </a:extLst>
          </p:cNvPr>
          <p:cNvSpPr txBox="1"/>
          <p:nvPr/>
        </p:nvSpPr>
        <p:spPr>
          <a:xfrm>
            <a:off x="4425696" y="4504049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128 mel bins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7DC7A2-7EEA-435A-9E4A-ACB2AD946991}"/>
              </a:ext>
            </a:extLst>
          </p:cNvPr>
          <p:cNvSpPr txBox="1"/>
          <p:nvPr/>
        </p:nvSpPr>
        <p:spPr>
          <a:xfrm>
            <a:off x="4425696" y="4988681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300 time frames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D511B-CA81-4F30-B040-AB20B2845684}"/>
              </a:ext>
            </a:extLst>
          </p:cNvPr>
          <p:cNvSpPr txBox="1"/>
          <p:nvPr/>
        </p:nvSpPr>
        <p:spPr>
          <a:xfrm>
            <a:off x="4425696" y="5473313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A1A1A"/>
                </a:solidFill>
              </a:rPr>
              <a:t>• log scale (dB)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875296-E85F-4505-A5FE-5CBF6360EB9C}"/>
              </a:ext>
            </a:extLst>
          </p:cNvPr>
          <p:cNvSpPr txBox="1"/>
          <p:nvPr/>
        </p:nvSpPr>
        <p:spPr>
          <a:xfrm>
            <a:off x="4425696" y="5957945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A1A1A"/>
                </a:solidFill>
              </a:rPr>
              <a:t>• ~3 sec fixed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5F8505-D5CB-40F2-A136-A9FE0B140CCB}"/>
              </a:ext>
            </a:extLst>
          </p:cNvPr>
          <p:cNvSpPr/>
          <p:nvPr/>
        </p:nvSpPr>
        <p:spPr>
          <a:xfrm>
            <a:off x="8138160" y="3452489"/>
            <a:ext cx="3666744" cy="43182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C6EB2E-4FB5-4C51-931C-FDFF9C6334D6}"/>
              </a:ext>
            </a:extLst>
          </p:cNvPr>
          <p:cNvSpPr/>
          <p:nvPr/>
        </p:nvSpPr>
        <p:spPr>
          <a:xfrm>
            <a:off x="8138160" y="3452489"/>
            <a:ext cx="73152" cy="4318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93AF93-4A1B-458A-B061-E78B6EB912C5}"/>
              </a:ext>
            </a:extLst>
          </p:cNvPr>
          <p:cNvSpPr txBox="1"/>
          <p:nvPr/>
        </p:nvSpPr>
        <p:spPr>
          <a:xfrm>
            <a:off x="8247888" y="3489065"/>
            <a:ext cx="3529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Raw Waveform</a:t>
            </a:r>
            <a:r>
              <a:rPr lang="en-US" sz="1500" b="1" i="0" dirty="0">
                <a:solidFill>
                  <a:srgbClr val="FFFFFF"/>
                </a:solidFill>
              </a:rPr>
              <a:t> ( </a:t>
            </a:r>
            <a:r>
              <a:rPr lang="en-US" sz="1600" b="1" i="0" dirty="0">
                <a:solidFill>
                  <a:srgbClr val="FFFFFF"/>
                </a:solidFill>
              </a:rPr>
              <a:t>wav2vec2</a:t>
            </a:r>
            <a:r>
              <a:rPr lang="en-US" sz="1500" b="1" i="0" dirty="0">
                <a:solidFill>
                  <a:srgbClr val="FFFFFF"/>
                </a:solidFill>
              </a:rPr>
              <a:t> )</a:t>
            </a:r>
            <a:endParaRPr sz="1500" b="1" i="0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0D87A4-C9AF-4E04-BB8E-842E80AAB4CB}"/>
              </a:ext>
            </a:extLst>
          </p:cNvPr>
          <p:cNvSpPr txBox="1"/>
          <p:nvPr/>
        </p:nvSpPr>
        <p:spPr>
          <a:xfrm>
            <a:off x="8229600" y="4019417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Απ' ευθείας WAV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E831F7-C59D-4758-AE50-5AA3A3883388}"/>
              </a:ext>
            </a:extLst>
          </p:cNvPr>
          <p:cNvSpPr txBox="1"/>
          <p:nvPr/>
        </p:nvSpPr>
        <p:spPr>
          <a:xfrm>
            <a:off x="8229600" y="4504049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16 kHz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F51525-BA54-4259-AD81-E85B3BFE903C}"/>
              </a:ext>
            </a:extLst>
          </p:cNvPr>
          <p:cNvSpPr txBox="1"/>
          <p:nvPr/>
        </p:nvSpPr>
        <p:spPr>
          <a:xfrm>
            <a:off x="8229600" y="4988681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έως 8 sec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0B9595-31FF-4526-A2B1-74B0F0F102C1}"/>
              </a:ext>
            </a:extLst>
          </p:cNvPr>
          <p:cNvSpPr txBox="1"/>
          <p:nvPr/>
        </p:nvSpPr>
        <p:spPr>
          <a:xfrm>
            <a:off x="8229600" y="5473313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128.000 samples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E251FF-E24B-4150-B12F-42E0ACD9E66A}"/>
              </a:ext>
            </a:extLst>
          </p:cNvPr>
          <p:cNvSpPr txBox="1"/>
          <p:nvPr/>
        </p:nvSpPr>
        <p:spPr>
          <a:xfrm>
            <a:off x="8229600" y="5957945"/>
            <a:ext cx="34838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A1A1A"/>
                </a:solidFill>
              </a:rPr>
              <a:t>• Επ</a:t>
            </a:r>
            <a:r>
              <a:rPr sz="1500" b="0" i="0" dirty="0" err="1">
                <a:solidFill>
                  <a:srgbClr val="1A1A1A"/>
                </a:solidFill>
              </a:rPr>
              <a:t>εξεργ</a:t>
            </a:r>
            <a:r>
              <a:rPr sz="1500" b="0" i="0" dirty="0">
                <a:solidFill>
                  <a:srgbClr val="1A1A1A"/>
                </a:solidFill>
              </a:rPr>
              <a:t>ασία εσωτερικά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73152"/>
            <a:ext cx="1127455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 dirty="0">
                <a:solidFill>
                  <a:srgbClr val="FFFFFF"/>
                </a:solidFill>
              </a:rPr>
              <a:t>Handcrafted Features</a:t>
            </a:r>
            <a:r>
              <a:rPr lang="en-US" sz="2300" b="1" i="0" dirty="0">
                <a:solidFill>
                  <a:srgbClr val="FFFFFF"/>
                </a:solidFill>
              </a:rPr>
              <a:t> - Mel-Spectrograms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12860"/>
              </p:ext>
            </p:extLst>
          </p:nvPr>
        </p:nvGraphicFramePr>
        <p:xfrm>
          <a:off x="457200" y="1261872"/>
          <a:ext cx="6221506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5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Οικογένεια χαρακτηριστικών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Dims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9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1A1A"/>
                          </a:solidFill>
                        </a:rPr>
                        <a:t>Zero-Crossing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9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Energy &amp; Energy Entropy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59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1A1A"/>
                          </a:solidFill>
                        </a:rPr>
                        <a:t>Spectral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59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1A1A"/>
                          </a:solidFill>
                        </a:rPr>
                        <a:t>MFCCs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59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1A1A"/>
                          </a:solidFill>
                        </a:rPr>
                        <a:t>Chroma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59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1A1A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140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59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Σύνολο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</a:rPr>
                        <a:t>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52446" y="1261872"/>
            <a:ext cx="4479306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4 </a:t>
            </a:r>
            <a:r>
              <a:rPr sz="1600" b="1" dirty="0" err="1">
                <a:solidFill>
                  <a:srgbClr val="1A1A1A"/>
                </a:solidFill>
              </a:rPr>
              <a:t>στ</a:t>
            </a:r>
            <a:r>
              <a:rPr sz="1600" b="1" dirty="0">
                <a:solidFill>
                  <a:srgbClr val="1A1A1A"/>
                </a:solidFill>
              </a:rPr>
              <a:t>ατιστικά ανά feature: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mean, std, min, max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sz="1600" b="1" dirty="0" err="1">
                <a:solidFill>
                  <a:srgbClr val="1A1A1A"/>
                </a:solidFill>
              </a:rPr>
              <a:t>StandardScaler</a:t>
            </a:r>
            <a:r>
              <a:rPr sz="1600" b="1" dirty="0">
                <a:solidFill>
                  <a:srgbClr val="1A1A1A"/>
                </a:solidFill>
              </a:rPr>
              <a:t> fit </a:t>
            </a:r>
            <a:r>
              <a:rPr sz="1600" b="1" dirty="0" err="1">
                <a:solidFill>
                  <a:srgbClr val="1A1A1A"/>
                </a:solidFill>
              </a:rPr>
              <a:t>μόνο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στο</a:t>
            </a:r>
            <a:r>
              <a:rPr sz="1600" b="1" dirty="0">
                <a:solidFill>
                  <a:srgbClr val="1A1A1A"/>
                </a:solidFill>
              </a:rPr>
              <a:t> train set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Utterance-level </a:t>
            </a:r>
            <a:r>
              <a:rPr sz="1600" b="1" dirty="0" err="1">
                <a:solidFill>
                  <a:srgbClr val="1A1A1A"/>
                </a:solidFill>
              </a:rPr>
              <a:t>διάνυσμ</a:t>
            </a:r>
            <a:r>
              <a:rPr sz="1600" b="1" dirty="0">
                <a:solidFill>
                  <a:srgbClr val="1A1A1A"/>
                </a:solidFill>
              </a:rPr>
              <a:t>α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sz="1600" b="1" dirty="0" err="1">
                <a:solidFill>
                  <a:srgbClr val="1A1A1A"/>
                </a:solidFill>
              </a:rPr>
              <a:t>Χωρίς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χρονική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δομή</a:t>
            </a:r>
            <a:endParaRPr sz="1600" b="1" dirty="0">
              <a:solidFill>
                <a:srgbClr val="1A1A1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E563E-F649-4467-A8C3-88FC1E6A7FBA}"/>
              </a:ext>
            </a:extLst>
          </p:cNvPr>
          <p:cNvSpPr txBox="1"/>
          <p:nvPr/>
        </p:nvSpPr>
        <p:spPr>
          <a:xfrm>
            <a:off x="457073" y="3864864"/>
            <a:ext cx="6134063" cy="25699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00" b="1" dirty="0">
                <a:solidFill>
                  <a:srgbClr val="1A1A1A"/>
                </a:solidFill>
              </a:rPr>
              <a:t>• Πα</a:t>
            </a:r>
            <a:r>
              <a:rPr sz="1400" b="1" dirty="0" err="1">
                <a:solidFill>
                  <a:srgbClr val="1A1A1A"/>
                </a:solidFill>
              </a:rPr>
              <a:t>ράμετροι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εξ</a:t>
            </a:r>
            <a:r>
              <a:rPr sz="1400" b="1" dirty="0">
                <a:solidFill>
                  <a:srgbClr val="1A1A1A"/>
                </a:solidFill>
              </a:rPr>
              <a:t>αγωγής 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Sample rate: 16 kHz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</a:t>
            </a:r>
            <a:r>
              <a:rPr sz="1400" b="0" dirty="0" err="1">
                <a:solidFill>
                  <a:srgbClr val="1A1A1A"/>
                </a:solidFill>
              </a:rPr>
              <a:t>N_mels</a:t>
            </a:r>
            <a:r>
              <a:rPr sz="1400" b="0" dirty="0">
                <a:solidFill>
                  <a:srgbClr val="1A1A1A"/>
                </a:solidFill>
              </a:rPr>
              <a:t>: 128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Hop length: 160 samples  →  10 </a:t>
            </a:r>
            <a:r>
              <a:rPr sz="1400" b="0" dirty="0" err="1">
                <a:solidFill>
                  <a:srgbClr val="1A1A1A"/>
                </a:solidFill>
              </a:rPr>
              <a:t>ms</a:t>
            </a:r>
            <a:r>
              <a:rPr sz="1400" b="0" dirty="0">
                <a:solidFill>
                  <a:srgbClr val="1A1A1A"/>
                </a:solidFill>
              </a:rPr>
              <a:t>/frame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Window: 400 samples  →  25 </a:t>
            </a:r>
            <a:r>
              <a:rPr sz="1400" b="0" dirty="0" err="1">
                <a:solidFill>
                  <a:srgbClr val="1A1A1A"/>
                </a:solidFill>
              </a:rPr>
              <a:t>ms</a:t>
            </a:r>
            <a:endParaRPr sz="1400" b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N_FFT: 1024</a:t>
            </a:r>
          </a:p>
          <a:p>
            <a:pPr>
              <a:spcBef>
                <a:spcPts val="900"/>
              </a:spcBef>
            </a:pPr>
            <a:r>
              <a:rPr sz="1400" b="1" dirty="0">
                <a:solidFill>
                  <a:srgbClr val="1A1A1A"/>
                </a:solidFill>
              </a:rPr>
              <a:t>• Padding / truncation  →  α</a:t>
            </a:r>
            <a:r>
              <a:rPr sz="1400" b="1" dirty="0" err="1">
                <a:solidFill>
                  <a:srgbClr val="1A1A1A"/>
                </a:solidFill>
              </a:rPr>
              <a:t>κρι</a:t>
            </a:r>
            <a:r>
              <a:rPr sz="1400" b="1" dirty="0">
                <a:solidFill>
                  <a:srgbClr val="1A1A1A"/>
                </a:solidFill>
              </a:rPr>
              <a:t>βώς 300 frames</a:t>
            </a:r>
          </a:p>
          <a:p>
            <a:pPr>
              <a:spcBef>
                <a:spcPts val="900"/>
              </a:spcBef>
            </a:pPr>
            <a:r>
              <a:rPr sz="1400" b="1" dirty="0">
                <a:solidFill>
                  <a:srgbClr val="1A1A1A"/>
                </a:solidFill>
              </a:rPr>
              <a:t>• </a:t>
            </a:r>
            <a:r>
              <a:rPr sz="1400" b="1" dirty="0" err="1">
                <a:solidFill>
                  <a:srgbClr val="1A1A1A"/>
                </a:solidFill>
              </a:rPr>
              <a:t>Τελικό</a:t>
            </a:r>
            <a:r>
              <a:rPr sz="1400" b="1" dirty="0">
                <a:solidFill>
                  <a:srgbClr val="1A1A1A"/>
                </a:solidFill>
              </a:rPr>
              <a:t> </a:t>
            </a:r>
            <a:r>
              <a:rPr sz="1400" b="1" dirty="0" err="1">
                <a:solidFill>
                  <a:srgbClr val="1A1A1A"/>
                </a:solidFill>
              </a:rPr>
              <a:t>σχήμ</a:t>
            </a:r>
            <a:r>
              <a:rPr sz="1400" b="1" dirty="0">
                <a:solidFill>
                  <a:srgbClr val="1A1A1A"/>
                </a:solidFill>
              </a:rPr>
              <a:t>α εισόδου: (1, 128, 300)</a:t>
            </a:r>
          </a:p>
          <a:p>
            <a:pPr>
              <a:spcBef>
                <a:spcPts val="900"/>
              </a:spcBef>
            </a:pPr>
            <a:r>
              <a:rPr sz="1400" b="1" dirty="0">
                <a:solidFill>
                  <a:srgbClr val="1A1A1A"/>
                </a:solidFill>
              </a:rPr>
              <a:t>• Augmentation: Gaussian noise </a:t>
            </a:r>
            <a:r>
              <a:rPr lang="en-US" sz="1400" b="1" dirty="0">
                <a:solidFill>
                  <a:srgbClr val="1A1A1A"/>
                </a:solidFill>
              </a:rPr>
              <a:t>reverberation</a:t>
            </a:r>
            <a:endParaRPr sz="1400" b="1" dirty="0">
              <a:solidFill>
                <a:srgbClr val="1A1A1A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7AE105-7C11-489E-9DA4-2CED328D9448}"/>
              </a:ext>
            </a:extLst>
          </p:cNvPr>
          <p:cNvSpPr/>
          <p:nvPr/>
        </p:nvSpPr>
        <p:spPr>
          <a:xfrm>
            <a:off x="7252446" y="3839793"/>
            <a:ext cx="4326905" cy="2622296"/>
          </a:xfrm>
          <a:prstGeom prst="rect">
            <a:avLst/>
          </a:prstGeom>
          <a:solidFill>
            <a:srgbClr val="DCE6F1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E2D706-3805-48C2-993D-CE16A71E9254}"/>
              </a:ext>
            </a:extLst>
          </p:cNvPr>
          <p:cNvSpPr txBox="1"/>
          <p:nvPr/>
        </p:nvSpPr>
        <p:spPr>
          <a:xfrm>
            <a:off x="7252446" y="4024595"/>
            <a:ext cx="4326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3864"/>
                </a:solidFill>
              </a:rPr>
              <a:t>(1, 128, 300)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5AABBA-F895-4688-BB38-D0E20A46B274}"/>
              </a:ext>
            </a:extLst>
          </p:cNvPr>
          <p:cNvSpPr txBox="1"/>
          <p:nvPr/>
        </p:nvSpPr>
        <p:spPr>
          <a:xfrm>
            <a:off x="7252446" y="4884961"/>
            <a:ext cx="432690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</a:rPr>
              <a:t>κανάλι  ×  mel bins  ×  frames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DFFFD5-06E4-4916-BF9C-BD36B47E4A2D}"/>
              </a:ext>
            </a:extLst>
          </p:cNvPr>
          <p:cNvSpPr txBox="1"/>
          <p:nvPr/>
        </p:nvSpPr>
        <p:spPr>
          <a:xfrm>
            <a:off x="7252446" y="5603945"/>
            <a:ext cx="432690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7070"/>
                </a:solidFill>
              </a:rPr>
              <a:t>~5.410 train  /  597 eval  /  1.107 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479092-A4DA-4091-8162-7D1E99193EDB}"/>
              </a:ext>
            </a:extLst>
          </p:cNvPr>
          <p:cNvSpPr/>
          <p:nvPr/>
        </p:nvSpPr>
        <p:spPr>
          <a:xfrm>
            <a:off x="7481942" y="5398694"/>
            <a:ext cx="3867912" cy="12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 err="1">
                <a:solidFill>
                  <a:srgbClr val="FFFFFF"/>
                </a:solidFill>
              </a:rPr>
              <a:t>Αρχιτεκτονικές</a:t>
            </a:r>
            <a:endParaRPr sz="2500" b="1" i="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61872"/>
          <a:ext cx="1127455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2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Μοντέλο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Είσοδος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Configs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Κύρια χαρακτηριστικά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272D handcrafted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2–4 layers, hidden 256/512, BatchNorm, 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Mel-spectrogram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5 αρχιτεκτονικοί τύποι, filter sweeps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Mel-spectrogram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CNN encoder + BiLSTM + attention pooling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wav2vec2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Raw waveform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1A"/>
                          </a:solidFill>
                        </a:rPr>
                        <a:t>Pretrained transformer, 2-phase fine-tuning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0507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2E75B6"/>
                </a:solidFill>
              </a:rPr>
              <a:t>Σύνολο</a:t>
            </a:r>
            <a:r>
              <a:rPr sz="1600" b="1" i="0" dirty="0">
                <a:solidFill>
                  <a:srgbClr val="2E75B6"/>
                </a:solidFill>
              </a:rPr>
              <a:t>: 23 π</a:t>
            </a:r>
            <a:r>
              <a:rPr sz="1600" b="1" i="0" dirty="0" err="1">
                <a:solidFill>
                  <a:srgbClr val="2E75B6"/>
                </a:solidFill>
              </a:rPr>
              <a:t>ειράμ</a:t>
            </a:r>
            <a:r>
              <a:rPr sz="1600" b="1" i="0" dirty="0">
                <a:solidFill>
                  <a:srgbClr val="2E75B6"/>
                </a:solidFill>
              </a:rPr>
              <a:t>ατα εκπαίδευσης ανά πρωτόκολλο  (80/20 + LOSO)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MLP — Αρχιτεκτονική και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0292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 dirty="0">
                <a:solidFill>
                  <a:srgbClr val="1A1A1A"/>
                </a:solidFill>
              </a:rPr>
              <a:t>• </a:t>
            </a:r>
            <a:r>
              <a:rPr sz="1700" b="1" dirty="0" err="1">
                <a:solidFill>
                  <a:srgbClr val="1A1A1A"/>
                </a:solidFill>
              </a:rPr>
              <a:t>Αρχιτεκτονική</a:t>
            </a:r>
            <a:r>
              <a:rPr sz="1700" b="1" dirty="0">
                <a:solidFill>
                  <a:srgbClr val="1A1A1A"/>
                </a:solidFill>
              </a:rPr>
              <a:t> (per layer)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Linear → BatchNorm1d → </a:t>
            </a:r>
            <a:r>
              <a:rPr sz="1500" b="0" dirty="0" err="1">
                <a:solidFill>
                  <a:srgbClr val="1A1A1A"/>
                </a:solidFill>
              </a:rPr>
              <a:t>ReLU</a:t>
            </a:r>
            <a:r>
              <a:rPr sz="1500" b="0" dirty="0">
                <a:solidFill>
                  <a:srgbClr val="1A1A1A"/>
                </a:solidFill>
              </a:rPr>
              <a:t> → Dropout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</a:t>
            </a:r>
            <a:r>
              <a:rPr sz="1500" b="0" dirty="0" err="1">
                <a:solidFill>
                  <a:srgbClr val="1A1A1A"/>
                </a:solidFill>
              </a:rPr>
              <a:t>Τελικό</a:t>
            </a:r>
            <a:r>
              <a:rPr sz="1500" b="0" dirty="0">
                <a:solidFill>
                  <a:srgbClr val="1A1A1A"/>
                </a:solidFill>
              </a:rPr>
              <a:t> Linear → 4 </a:t>
            </a:r>
            <a:r>
              <a:rPr sz="1500" b="0" dirty="0" err="1">
                <a:solidFill>
                  <a:srgbClr val="1A1A1A"/>
                </a:solidFill>
              </a:rPr>
              <a:t>κλάσεις</a:t>
            </a:r>
            <a:endParaRPr sz="1500" b="0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700" b="1" dirty="0">
                <a:solidFill>
                  <a:srgbClr val="1A1A1A"/>
                </a:solidFill>
              </a:rPr>
              <a:t>• </a:t>
            </a:r>
            <a:r>
              <a:rPr lang="el-GR" sz="1700" b="1" dirty="0">
                <a:solidFill>
                  <a:srgbClr val="1A1A1A"/>
                </a:solidFill>
              </a:rPr>
              <a:t>Π</a:t>
            </a:r>
            <a:r>
              <a:rPr sz="1700" b="1" dirty="0">
                <a:solidFill>
                  <a:srgbClr val="1A1A1A"/>
                </a:solidFill>
              </a:rPr>
              <a:t>αρ</a:t>
            </a:r>
            <a:r>
              <a:rPr lang="el-GR" sz="1700" b="1" dirty="0">
                <a:solidFill>
                  <a:srgbClr val="1A1A1A"/>
                </a:solidFill>
              </a:rPr>
              <a:t>ά</a:t>
            </a:r>
            <a:r>
              <a:rPr sz="1700" b="1" dirty="0">
                <a:solidFill>
                  <a:srgbClr val="1A1A1A"/>
                </a:solidFill>
              </a:rPr>
              <a:t>μ</a:t>
            </a:r>
            <a:r>
              <a:rPr lang="el-GR" sz="1700" b="1" dirty="0">
                <a:solidFill>
                  <a:srgbClr val="1A1A1A"/>
                </a:solidFill>
              </a:rPr>
              <a:t>ε</a:t>
            </a:r>
            <a:r>
              <a:rPr sz="1700" b="1" dirty="0" err="1">
                <a:solidFill>
                  <a:srgbClr val="1A1A1A"/>
                </a:solidFill>
              </a:rPr>
              <a:t>τρ</a:t>
            </a:r>
            <a:r>
              <a:rPr lang="el-GR" sz="1700" b="1" dirty="0">
                <a:solidFill>
                  <a:srgbClr val="1A1A1A"/>
                </a:solidFill>
              </a:rPr>
              <a:t>οι</a:t>
            </a:r>
            <a:endParaRPr sz="1700" b="1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</a:t>
            </a:r>
            <a:r>
              <a:rPr sz="1500" b="0" dirty="0" err="1">
                <a:solidFill>
                  <a:srgbClr val="1A1A1A"/>
                </a:solidFill>
              </a:rPr>
              <a:t>Βάθος</a:t>
            </a:r>
            <a:r>
              <a:rPr sz="1500" b="0" dirty="0">
                <a:solidFill>
                  <a:srgbClr val="1A1A1A"/>
                </a:solidFill>
              </a:rPr>
              <a:t>: 2–4 hidden layers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</a:t>
            </a:r>
            <a:r>
              <a:rPr sz="1500" b="0" dirty="0" err="1">
                <a:solidFill>
                  <a:srgbClr val="1A1A1A"/>
                </a:solidFill>
              </a:rPr>
              <a:t>Πλάτος</a:t>
            </a:r>
            <a:r>
              <a:rPr sz="1500" b="0" dirty="0">
                <a:solidFill>
                  <a:srgbClr val="1A1A1A"/>
                </a:solidFill>
              </a:rPr>
              <a:t>: 256 ή 512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Dropout: 0.3 ή 0.5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LR: 1e-3 ή 5e-4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Augmented data: ναι/</a:t>
            </a:r>
            <a:r>
              <a:rPr sz="1500" b="0" dirty="0" err="1">
                <a:solidFill>
                  <a:srgbClr val="1A1A1A"/>
                </a:solidFill>
              </a:rPr>
              <a:t>όχι</a:t>
            </a:r>
            <a:endParaRPr sz="1500" b="0" dirty="0">
              <a:solidFill>
                <a:srgbClr val="1A1A1A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10650"/>
              </p:ext>
            </p:extLst>
          </p:nvPr>
        </p:nvGraphicFramePr>
        <p:xfrm>
          <a:off x="5760720" y="1261872"/>
          <a:ext cx="597103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8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Hidden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Drop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CNN — Αρχιτεκτονική και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073" y="1261872"/>
            <a:ext cx="5303520" cy="5340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Βα</a:t>
            </a:r>
            <a:r>
              <a:rPr sz="1600" b="1" dirty="0" err="1">
                <a:solidFill>
                  <a:srgbClr val="1A1A1A"/>
                </a:solidFill>
              </a:rPr>
              <a:t>σική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δομή</a:t>
            </a:r>
            <a:endParaRPr sz="1600" b="1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Conv2d → BN → </a:t>
            </a:r>
            <a:r>
              <a:rPr sz="1400" b="0" dirty="0" err="1">
                <a:solidFill>
                  <a:srgbClr val="1A1A1A"/>
                </a:solidFill>
              </a:rPr>
              <a:t>ReLU</a:t>
            </a:r>
            <a:r>
              <a:rPr sz="1400" b="0" dirty="0">
                <a:solidFill>
                  <a:srgbClr val="1A1A1A"/>
                </a:solidFill>
              </a:rPr>
              <a:t> → MaxPool2d  (επαναλαμβα</a:t>
            </a:r>
            <a:r>
              <a:rPr sz="1400" b="0" dirty="0" err="1">
                <a:solidFill>
                  <a:srgbClr val="1A1A1A"/>
                </a:solidFill>
              </a:rPr>
              <a:t>νόμενο</a:t>
            </a:r>
            <a:r>
              <a:rPr sz="1400" b="0" dirty="0">
                <a:solidFill>
                  <a:srgbClr val="1A1A1A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Pooling → flatten → Linear head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5 α</a:t>
            </a:r>
            <a:r>
              <a:rPr sz="1600" b="1" dirty="0" err="1">
                <a:solidFill>
                  <a:srgbClr val="1A1A1A"/>
                </a:solidFill>
              </a:rPr>
              <a:t>ρχιτεκτονικοί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τύ</a:t>
            </a:r>
            <a:r>
              <a:rPr sz="1600" b="1" dirty="0">
                <a:solidFill>
                  <a:srgbClr val="1A1A1A"/>
                </a:solidFill>
              </a:rPr>
              <a:t>ποι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standard: </a:t>
            </a:r>
            <a:r>
              <a:rPr sz="1400" b="0" dirty="0" err="1">
                <a:solidFill>
                  <a:srgbClr val="1A1A1A"/>
                </a:solidFill>
              </a:rPr>
              <a:t>AdaptiveAvgPool</a:t>
            </a:r>
            <a:r>
              <a:rPr sz="1400" b="0" dirty="0">
                <a:solidFill>
                  <a:srgbClr val="1A1A1A"/>
                </a:solidFill>
              </a:rPr>
              <a:t>(1,1)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gap: Global Average Pooling mean()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residual: Skip connections </a:t>
            </a:r>
            <a:r>
              <a:rPr sz="1400" b="0" dirty="0" err="1">
                <a:solidFill>
                  <a:srgbClr val="1A1A1A"/>
                </a:solidFill>
              </a:rPr>
              <a:t>με</a:t>
            </a:r>
            <a:r>
              <a:rPr sz="1400" b="0" dirty="0">
                <a:solidFill>
                  <a:srgbClr val="1A1A1A"/>
                </a:solidFill>
              </a:rPr>
              <a:t> 1×1 projection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</a:t>
            </a:r>
            <a:r>
              <a:rPr sz="1400" b="0" dirty="0" err="1">
                <a:solidFill>
                  <a:srgbClr val="1A1A1A"/>
                </a:solidFill>
              </a:rPr>
              <a:t>freq_aware</a:t>
            </a:r>
            <a:r>
              <a:rPr sz="1400" b="0" dirty="0">
                <a:solidFill>
                  <a:srgbClr val="1A1A1A"/>
                </a:solidFill>
              </a:rPr>
              <a:t>: Pooling </a:t>
            </a:r>
            <a:r>
              <a:rPr sz="1400" b="0" dirty="0" err="1">
                <a:solidFill>
                  <a:srgbClr val="1A1A1A"/>
                </a:solidFill>
              </a:rPr>
              <a:t>μόνο</a:t>
            </a:r>
            <a:r>
              <a:rPr sz="1400" b="0" dirty="0">
                <a:solidFill>
                  <a:srgbClr val="1A1A1A"/>
                </a:solidFill>
              </a:rPr>
              <a:t> </a:t>
            </a:r>
            <a:r>
              <a:rPr sz="1400" b="0" dirty="0" err="1">
                <a:solidFill>
                  <a:srgbClr val="1A1A1A"/>
                </a:solidFill>
              </a:rPr>
              <a:t>στον</a:t>
            </a:r>
            <a:r>
              <a:rPr sz="1400" b="0" dirty="0">
                <a:solidFill>
                  <a:srgbClr val="1A1A1A"/>
                </a:solidFill>
              </a:rPr>
              <a:t> </a:t>
            </a:r>
            <a:r>
              <a:rPr sz="1400" b="0" dirty="0" err="1">
                <a:solidFill>
                  <a:srgbClr val="1A1A1A"/>
                </a:solidFill>
              </a:rPr>
              <a:t>χρόνο</a:t>
            </a:r>
            <a:r>
              <a:rPr sz="1400" b="0" dirty="0">
                <a:solidFill>
                  <a:srgbClr val="1A1A1A"/>
                </a:solidFill>
              </a:rPr>
              <a:t>, </a:t>
            </a:r>
            <a:r>
              <a:rPr sz="1400" b="0" dirty="0" err="1">
                <a:solidFill>
                  <a:srgbClr val="1A1A1A"/>
                </a:solidFill>
              </a:rPr>
              <a:t>δι</a:t>
            </a:r>
            <a:r>
              <a:rPr sz="1400" b="0" dirty="0">
                <a:solidFill>
                  <a:srgbClr val="1A1A1A"/>
                </a:solidFill>
              </a:rPr>
              <a:t>ατηρεί 4 freq bins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</a:t>
            </a:r>
            <a:r>
              <a:rPr sz="1400" b="0" dirty="0" err="1">
                <a:solidFill>
                  <a:srgbClr val="1A1A1A"/>
                </a:solidFill>
              </a:rPr>
              <a:t>deep_head</a:t>
            </a:r>
            <a:r>
              <a:rPr sz="1400" b="0" dirty="0">
                <a:solidFill>
                  <a:srgbClr val="1A1A1A"/>
                </a:solidFill>
              </a:rPr>
              <a:t>: Βα</a:t>
            </a:r>
            <a:r>
              <a:rPr sz="1400" b="0" dirty="0" err="1">
                <a:solidFill>
                  <a:srgbClr val="1A1A1A"/>
                </a:solidFill>
              </a:rPr>
              <a:t>θύτερο</a:t>
            </a:r>
            <a:r>
              <a:rPr sz="1400" b="0" dirty="0">
                <a:solidFill>
                  <a:srgbClr val="1A1A1A"/>
                </a:solidFill>
              </a:rPr>
              <a:t> classifier head 128→512→256→4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435241"/>
              </p:ext>
            </p:extLst>
          </p:nvPr>
        </p:nvGraphicFramePr>
        <p:xfrm>
          <a:off x="6035040" y="1261872"/>
          <a:ext cx="5696712" cy="534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46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Τύπος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Filters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[32,64,128]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[64,128,256]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[32,64,128]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[32,64,128,256]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[32,64,128]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residual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[32,64,128]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freq_aware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546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l-GR" sz="11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deep_head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[32,64,128]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CNN-LSTM — Αρχιτεκτονική και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03520" cy="273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sz="1600" b="1" dirty="0" err="1">
                <a:solidFill>
                  <a:srgbClr val="1A1A1A"/>
                </a:solidFill>
              </a:rPr>
              <a:t>Αρχιτεκτονική</a:t>
            </a:r>
            <a:endParaRPr sz="1600" b="1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CNN encoder: </a:t>
            </a:r>
            <a:r>
              <a:rPr sz="1400" b="0" dirty="0" err="1">
                <a:solidFill>
                  <a:srgbClr val="1A1A1A"/>
                </a:solidFill>
              </a:rPr>
              <a:t>εξ</a:t>
            </a:r>
            <a:r>
              <a:rPr sz="1400" b="0" dirty="0">
                <a:solidFill>
                  <a:srgbClr val="1A1A1A"/>
                </a:solidFill>
              </a:rPr>
              <a:t>αγωγή local φασματικών patterns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Mean pooling </a:t>
            </a:r>
            <a:r>
              <a:rPr sz="1400" b="0" dirty="0" err="1">
                <a:solidFill>
                  <a:srgbClr val="1A1A1A"/>
                </a:solidFill>
              </a:rPr>
              <a:t>στη</a:t>
            </a:r>
            <a:r>
              <a:rPr sz="1400" b="0" dirty="0">
                <a:solidFill>
                  <a:srgbClr val="1A1A1A"/>
                </a:solidFill>
              </a:rPr>
              <a:t> </a:t>
            </a:r>
            <a:r>
              <a:rPr sz="1400" b="0" dirty="0" err="1">
                <a:solidFill>
                  <a:srgbClr val="1A1A1A"/>
                </a:solidFill>
              </a:rPr>
              <a:t>συχνότητ</a:t>
            </a:r>
            <a:r>
              <a:rPr sz="1400" b="0" dirty="0">
                <a:solidFill>
                  <a:srgbClr val="1A1A1A"/>
                </a:solidFill>
              </a:rPr>
              <a:t>α → χρονική ακολουθία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</a:t>
            </a:r>
            <a:r>
              <a:rPr sz="1400" b="0" dirty="0" err="1">
                <a:solidFill>
                  <a:srgbClr val="1A1A1A"/>
                </a:solidFill>
              </a:rPr>
              <a:t>BiLSTM</a:t>
            </a:r>
            <a:r>
              <a:rPr sz="1400" b="0" dirty="0">
                <a:solidFill>
                  <a:srgbClr val="1A1A1A"/>
                </a:solidFill>
              </a:rPr>
              <a:t>: </a:t>
            </a:r>
            <a:r>
              <a:rPr sz="1400" b="0" dirty="0" err="1">
                <a:solidFill>
                  <a:srgbClr val="1A1A1A"/>
                </a:solidFill>
              </a:rPr>
              <a:t>μοντελο</a:t>
            </a:r>
            <a:r>
              <a:rPr sz="1400" b="0" dirty="0">
                <a:solidFill>
                  <a:srgbClr val="1A1A1A"/>
                </a:solidFill>
              </a:rPr>
              <a:t>ποίηση χρονικής εξέλιξης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Attention pooling: επ</a:t>
            </a:r>
            <a:r>
              <a:rPr sz="1400" b="0" dirty="0" err="1">
                <a:solidFill>
                  <a:srgbClr val="1A1A1A"/>
                </a:solidFill>
              </a:rPr>
              <a:t>ιλεκτική</a:t>
            </a:r>
            <a:r>
              <a:rPr sz="1400" b="0" dirty="0">
                <a:solidFill>
                  <a:srgbClr val="1A1A1A"/>
                </a:solidFill>
              </a:rPr>
              <a:t> </a:t>
            </a:r>
            <a:r>
              <a:rPr sz="1400" b="0" dirty="0" err="1">
                <a:solidFill>
                  <a:srgbClr val="1A1A1A"/>
                </a:solidFill>
              </a:rPr>
              <a:t>συγκέντρωση</a:t>
            </a:r>
            <a:endParaRPr sz="1400" b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Linear → 4 </a:t>
            </a:r>
            <a:r>
              <a:rPr sz="1400" b="0" dirty="0" err="1">
                <a:solidFill>
                  <a:srgbClr val="1A1A1A"/>
                </a:solidFill>
              </a:rPr>
              <a:t>κλάσεις</a:t>
            </a:r>
            <a:endParaRPr sz="1400" b="0" dirty="0">
              <a:solidFill>
                <a:srgbClr val="1A1A1A"/>
              </a:solidFill>
            </a:endParaRP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lang="el-GR" sz="1600" b="1" dirty="0">
                <a:solidFill>
                  <a:srgbClr val="1A1A1A"/>
                </a:solidFill>
              </a:rPr>
              <a:t>Π</a:t>
            </a:r>
            <a:r>
              <a:rPr sz="1600" b="1" dirty="0">
                <a:solidFill>
                  <a:srgbClr val="1A1A1A"/>
                </a:solidFill>
              </a:rPr>
              <a:t>αρ</a:t>
            </a:r>
            <a:r>
              <a:rPr lang="el-GR" sz="1600" b="1" dirty="0">
                <a:solidFill>
                  <a:srgbClr val="1A1A1A"/>
                </a:solidFill>
              </a:rPr>
              <a:t>ά</a:t>
            </a:r>
            <a:r>
              <a:rPr sz="1600" b="1" dirty="0">
                <a:solidFill>
                  <a:srgbClr val="1A1A1A"/>
                </a:solidFill>
              </a:rPr>
              <a:t>μ</a:t>
            </a:r>
            <a:r>
              <a:rPr lang="el-GR" sz="1600" b="1" dirty="0">
                <a:solidFill>
                  <a:srgbClr val="1A1A1A"/>
                </a:solidFill>
              </a:rPr>
              <a:t>ε</a:t>
            </a:r>
            <a:r>
              <a:rPr sz="1600" b="1" dirty="0" err="1">
                <a:solidFill>
                  <a:srgbClr val="1A1A1A"/>
                </a:solidFill>
              </a:rPr>
              <a:t>τρ</a:t>
            </a:r>
            <a:r>
              <a:rPr lang="el-GR" sz="1600" b="1" dirty="0">
                <a:solidFill>
                  <a:srgbClr val="1A1A1A"/>
                </a:solidFill>
              </a:rPr>
              <a:t>οι</a:t>
            </a:r>
            <a:endParaRPr sz="1600" b="1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CNN blocks: 2 ή 3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LSTM hidden: 128 ή 256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LSTM layers: 1 ή 2  /  Bidirectional: yes/no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261872"/>
          <a:ext cx="569671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4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94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LSTM 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BiDir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cl_1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cl_2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cl_3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cl_4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cl_5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cl_6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FFFFFF"/>
                </a:solidFill>
              </a:rPr>
              <a:t>wav2vec2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64008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lang="en-US" sz="1600" b="1" dirty="0">
                <a:solidFill>
                  <a:srgbClr val="1A1A1A"/>
                </a:solidFill>
              </a:rPr>
              <a:t>W</a:t>
            </a:r>
            <a:r>
              <a:rPr sz="1600" b="1" dirty="0">
                <a:solidFill>
                  <a:srgbClr val="1A1A1A"/>
                </a:solidFill>
              </a:rPr>
              <a:t>av2vec2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Pretrained </a:t>
            </a:r>
            <a:r>
              <a:rPr sz="1400" b="0" dirty="0" err="1">
                <a:solidFill>
                  <a:srgbClr val="1A1A1A"/>
                </a:solidFill>
              </a:rPr>
              <a:t>σε</a:t>
            </a:r>
            <a:r>
              <a:rPr sz="1400" b="0" dirty="0">
                <a:solidFill>
                  <a:srgbClr val="1A1A1A"/>
                </a:solidFill>
              </a:rPr>
              <a:t> </a:t>
            </a:r>
            <a:r>
              <a:rPr sz="1400" b="0" dirty="0" err="1">
                <a:solidFill>
                  <a:srgbClr val="1A1A1A"/>
                </a:solidFill>
              </a:rPr>
              <a:t>LibriSpeech</a:t>
            </a:r>
            <a:r>
              <a:rPr sz="1400" b="0" dirty="0">
                <a:solidFill>
                  <a:srgbClr val="1A1A1A"/>
                </a:solidFill>
              </a:rPr>
              <a:t> 960</a:t>
            </a:r>
            <a:r>
              <a:rPr lang="en-US" sz="1400" b="0" dirty="0">
                <a:solidFill>
                  <a:srgbClr val="1A1A1A"/>
                </a:solidFill>
              </a:rPr>
              <a:t>h</a:t>
            </a:r>
            <a:endParaRPr sz="1400" b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12 transformer layers, 768-dim hidden states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Classification head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Learnable attention pooling π</a:t>
            </a:r>
            <a:r>
              <a:rPr sz="1400" b="0" dirty="0" err="1">
                <a:solidFill>
                  <a:srgbClr val="1A1A1A"/>
                </a:solidFill>
              </a:rPr>
              <a:t>άνω</a:t>
            </a:r>
            <a:r>
              <a:rPr sz="1400" b="0" dirty="0">
                <a:solidFill>
                  <a:srgbClr val="1A1A1A"/>
                </a:solidFill>
              </a:rPr>
              <a:t> </a:t>
            </a:r>
            <a:r>
              <a:rPr sz="1400" b="0" dirty="0" err="1">
                <a:solidFill>
                  <a:srgbClr val="1A1A1A"/>
                </a:solidFill>
              </a:rPr>
              <a:t>στ</a:t>
            </a:r>
            <a:r>
              <a:rPr sz="1400" b="0" dirty="0">
                <a:solidFill>
                  <a:srgbClr val="1A1A1A"/>
                </a:solidFill>
              </a:rPr>
              <a:t>α hidden states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Linear(768→256) → </a:t>
            </a:r>
            <a:r>
              <a:rPr sz="1400" b="0" dirty="0" err="1">
                <a:solidFill>
                  <a:srgbClr val="1A1A1A"/>
                </a:solidFill>
              </a:rPr>
              <a:t>ReLU</a:t>
            </a:r>
            <a:r>
              <a:rPr sz="1400" b="0" dirty="0">
                <a:solidFill>
                  <a:srgbClr val="1A1A1A"/>
                </a:solidFill>
              </a:rPr>
              <a:t> → Dropout → Linear(256→4)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2-phase fine-tuning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Phase 1 — 5 epochs, frozen encoder, </a:t>
            </a:r>
            <a:r>
              <a:rPr sz="1400" b="0" dirty="0" err="1">
                <a:solidFill>
                  <a:srgbClr val="1A1A1A"/>
                </a:solidFill>
              </a:rPr>
              <a:t>εκ</a:t>
            </a:r>
            <a:r>
              <a:rPr sz="1400" b="0" dirty="0">
                <a:solidFill>
                  <a:srgbClr val="1A1A1A"/>
                </a:solidFill>
              </a:rPr>
              <a:t>π. head </a:t>
            </a:r>
            <a:r>
              <a:rPr sz="1400" b="0" dirty="0" err="1">
                <a:solidFill>
                  <a:srgbClr val="1A1A1A"/>
                </a:solidFill>
              </a:rPr>
              <a:t>μόνο</a:t>
            </a:r>
            <a:r>
              <a:rPr sz="1400" b="0" dirty="0">
                <a:solidFill>
                  <a:srgbClr val="1A1A1A"/>
                </a:solidFill>
              </a:rPr>
              <a:t>, LR=1e-3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Phase 2 — ~14 epochs, </a:t>
            </a:r>
            <a:r>
              <a:rPr sz="1400" b="0" dirty="0" err="1">
                <a:solidFill>
                  <a:srgbClr val="1A1A1A"/>
                </a:solidFill>
              </a:rPr>
              <a:t>ξε</a:t>
            </a:r>
            <a:r>
              <a:rPr sz="1400" b="0" dirty="0">
                <a:solidFill>
                  <a:srgbClr val="1A1A1A"/>
                </a:solidFill>
              </a:rPr>
              <a:t>πάγωμα τελευταίων 4 layers + feat. </a:t>
            </a:r>
            <a:r>
              <a:rPr sz="1400" b="0" dirty="0" err="1">
                <a:solidFill>
                  <a:srgbClr val="1A1A1A"/>
                </a:solidFill>
              </a:rPr>
              <a:t>proj</a:t>
            </a:r>
            <a:r>
              <a:rPr sz="1400" b="0" dirty="0">
                <a:solidFill>
                  <a:srgbClr val="1A1A1A"/>
                </a:solidFill>
              </a:rPr>
              <a:t>.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</a:t>
            </a:r>
            <a:r>
              <a:rPr sz="1400" b="0" dirty="0" err="1">
                <a:solidFill>
                  <a:srgbClr val="1A1A1A"/>
                </a:solidFill>
              </a:rPr>
              <a:t>AdamW</a:t>
            </a:r>
            <a:r>
              <a:rPr sz="1400" b="0" dirty="0">
                <a:solidFill>
                  <a:srgbClr val="1A1A1A"/>
                </a:solidFill>
              </a:rPr>
              <a:t>, weight decay 1e-4, </a:t>
            </a:r>
            <a:r>
              <a:rPr sz="1400" b="0" dirty="0" err="1">
                <a:solidFill>
                  <a:srgbClr val="1A1A1A"/>
                </a:solidFill>
              </a:rPr>
              <a:t>layerwise</a:t>
            </a:r>
            <a:r>
              <a:rPr sz="1400" b="0" dirty="0">
                <a:solidFill>
                  <a:srgbClr val="1A1A1A"/>
                </a:solidFill>
              </a:rPr>
              <a:t> LR decay 0.9× α</a:t>
            </a:r>
            <a:r>
              <a:rPr sz="1400" b="0" dirty="0" err="1">
                <a:solidFill>
                  <a:srgbClr val="1A1A1A"/>
                </a:solidFill>
              </a:rPr>
              <a:t>νά</a:t>
            </a:r>
            <a:r>
              <a:rPr sz="1400" b="0" dirty="0">
                <a:solidFill>
                  <a:srgbClr val="1A1A1A"/>
                </a:solidFill>
              </a:rPr>
              <a:t> layer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1A"/>
                </a:solidFill>
              </a:rPr>
              <a:t>  — Base LR: 5e-5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2724912"/>
          <a:ext cx="45994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Phase 1 — frozen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Phase 2 — fine-tuned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Βελτίωση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+0,130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Training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61872"/>
          <a:ext cx="1127455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3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3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3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wav2vec2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AdamW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Scheduler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CosineAnnealingLR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CosineAnnealingLR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CosineAnnealingLR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CosineAnnealingLR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CrossEntropy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CrossEntropy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CrossEntropy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CrossEntropy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Batch size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Max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Early stopping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patience 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patience 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patience 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patience 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Best ckpt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Val W-F1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Val W-F1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Val W-F1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Val W-F1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Αποτελέσματα — 80/20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76605"/>
              </p:ext>
            </p:extLst>
          </p:nvPr>
        </p:nvGraphicFramePr>
        <p:xfrm>
          <a:off x="457200" y="1261872"/>
          <a:ext cx="1127455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Οικογένεια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W-F1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MLP</a:t>
                      </a:r>
                      <a:r>
                        <a:rPr lang="en-US" sz="1500" b="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61,9%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CNN</a:t>
                      </a:r>
                      <a:r>
                        <a:rPr lang="en-US" sz="1500" b="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60,5%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0,602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0,617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CL</a:t>
                      </a:r>
                      <a:r>
                        <a:rPr lang="en-US" sz="1500" b="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55,9%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wav2vec2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fine-tuned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72,0%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0,720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0,727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47872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wav2vec2 frozen (Phase 1): UAR 0,570  →  fine-tuned: UAR 0,727  (+0,157)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CNN με augmentation (CNN-6) υπερέχει σαφώς των non-augmented configs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MLP-5 (4 layers, 512) καλύτερο MLP στο 80/20 — αντίθετα με το LOSO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CNN-LSTM δεν ξεπερνά το απλό CNN παρά την πρόσθετη πολυπλοκότητα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LOSO — Σύνοψη Αποτελεσμάτων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185175"/>
              </p:ext>
            </p:extLst>
          </p:nvPr>
        </p:nvGraphicFramePr>
        <p:xfrm>
          <a:off x="457200" y="1261872"/>
          <a:ext cx="11274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Οικογένεια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W-F1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500" b="0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500" b="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500" b="0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500" b="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0,583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0,580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0,595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0,603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lang="en-US" sz="1500" b="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</a:rPr>
                        <a:t>wav2vec2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fine-tuned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0,680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0,681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</a:rPr>
                        <a:t>0,687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</a:rPr>
                        <a:t>0,670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47872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wav2vec2 κα</a:t>
            </a:r>
            <a:r>
              <a:rPr sz="1600" b="1" dirty="0" err="1">
                <a:solidFill>
                  <a:srgbClr val="1A1A1A"/>
                </a:solidFill>
              </a:rPr>
              <a:t>λύτερο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σε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όλες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τις</a:t>
            </a:r>
            <a:r>
              <a:rPr sz="1600" b="1" dirty="0">
                <a:solidFill>
                  <a:srgbClr val="1A1A1A"/>
                </a:solidFill>
              </a:rPr>
              <a:t> </a:t>
            </a:r>
            <a:r>
              <a:rPr sz="1600" b="1" dirty="0" err="1">
                <a:solidFill>
                  <a:srgbClr val="1A1A1A"/>
                </a:solidFill>
              </a:rPr>
              <a:t>μετρικές</a:t>
            </a:r>
            <a:r>
              <a:rPr sz="1600" b="1" dirty="0">
                <a:solidFill>
                  <a:srgbClr val="1A1A1A"/>
                </a:solidFill>
              </a:rPr>
              <a:t> — pretrained αναπα</a:t>
            </a:r>
            <a:r>
              <a:rPr sz="1600" b="1" dirty="0" err="1">
                <a:solidFill>
                  <a:srgbClr val="1A1A1A"/>
                </a:solidFill>
              </a:rPr>
              <a:t>ράστ</a:t>
            </a:r>
            <a:r>
              <a:rPr sz="1600" b="1" dirty="0">
                <a:solidFill>
                  <a:srgbClr val="1A1A1A"/>
                </a:solidFill>
              </a:rPr>
              <a:t>αση δίνει σαφές πλεονέκτημα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CNN </a:t>
            </a:r>
            <a:r>
              <a:rPr sz="1600" b="1" dirty="0" err="1">
                <a:solidFill>
                  <a:srgbClr val="1A1A1A"/>
                </a:solidFill>
              </a:rPr>
              <a:t>freq_aware</a:t>
            </a:r>
            <a:r>
              <a:rPr sz="1600" b="1" dirty="0">
                <a:solidFill>
                  <a:srgbClr val="1A1A1A"/>
                </a:solidFill>
              </a:rPr>
              <a:t> (cnn_9) κα</a:t>
            </a:r>
            <a:r>
              <a:rPr sz="1600" b="1" dirty="0" err="1">
                <a:solidFill>
                  <a:srgbClr val="1A1A1A"/>
                </a:solidFill>
              </a:rPr>
              <a:t>λύτερο</a:t>
            </a:r>
            <a:r>
              <a:rPr sz="1600" b="1" dirty="0">
                <a:solidFill>
                  <a:srgbClr val="1A1A1A"/>
                </a:solidFill>
              </a:rPr>
              <a:t> from-scratch </a:t>
            </a:r>
            <a:r>
              <a:rPr sz="1600" b="1" dirty="0" err="1">
                <a:solidFill>
                  <a:srgbClr val="1A1A1A"/>
                </a:solidFill>
              </a:rPr>
              <a:t>μοντέλο</a:t>
            </a:r>
            <a:r>
              <a:rPr sz="1600" b="1" dirty="0">
                <a:solidFill>
                  <a:srgbClr val="1A1A1A"/>
                </a:solidFill>
              </a:rPr>
              <a:t> — </a:t>
            </a:r>
            <a:r>
              <a:rPr sz="1600" b="1" dirty="0" err="1">
                <a:solidFill>
                  <a:srgbClr val="1A1A1A"/>
                </a:solidFill>
              </a:rPr>
              <a:t>δι</a:t>
            </a:r>
            <a:r>
              <a:rPr sz="1600" b="1" dirty="0">
                <a:solidFill>
                  <a:srgbClr val="1A1A1A"/>
                </a:solidFill>
              </a:rPr>
              <a:t>ατήρηση συχνοτικής δομής βοηθά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</a:t>
            </a:r>
            <a:r>
              <a:rPr sz="1600" b="1" dirty="0" err="1">
                <a:solidFill>
                  <a:srgbClr val="1A1A1A"/>
                </a:solidFill>
              </a:rPr>
              <a:t>Το</a:t>
            </a:r>
            <a:r>
              <a:rPr sz="1600" b="1" dirty="0">
                <a:solidFill>
                  <a:srgbClr val="1A1A1A"/>
                </a:solidFill>
              </a:rPr>
              <a:t> απ</a:t>
            </a:r>
            <a:r>
              <a:rPr sz="1600" b="1" dirty="0" err="1">
                <a:solidFill>
                  <a:srgbClr val="1A1A1A"/>
                </a:solidFill>
              </a:rPr>
              <a:t>λούστερο</a:t>
            </a:r>
            <a:r>
              <a:rPr sz="1600" b="1" dirty="0">
                <a:solidFill>
                  <a:srgbClr val="1A1A1A"/>
                </a:solidFill>
              </a:rPr>
              <a:t> MLP (mlp_1, 2 layers) </a:t>
            </a:r>
            <a:r>
              <a:rPr sz="1600" b="1" dirty="0" err="1">
                <a:solidFill>
                  <a:srgbClr val="1A1A1A"/>
                </a:solidFill>
              </a:rPr>
              <a:t>είν</a:t>
            </a:r>
            <a:r>
              <a:rPr sz="1600" b="1" dirty="0">
                <a:solidFill>
                  <a:srgbClr val="1A1A1A"/>
                </a:solidFill>
              </a:rPr>
              <a:t>αι το καλύτερο MLP — βαθύτερα nets overfitting</a:t>
            </a:r>
          </a:p>
          <a:p>
            <a:pPr>
              <a:spcBef>
                <a:spcPts val="900"/>
              </a:spcBef>
            </a:pPr>
            <a:r>
              <a:rPr sz="1600" b="1" dirty="0">
                <a:solidFill>
                  <a:srgbClr val="1A1A1A"/>
                </a:solidFill>
              </a:rPr>
              <a:t>• CNN-LSTM </a:t>
            </a:r>
            <a:r>
              <a:rPr sz="1600" b="1" dirty="0" err="1">
                <a:solidFill>
                  <a:srgbClr val="1A1A1A"/>
                </a:solidFill>
              </a:rPr>
              <a:t>ορι</a:t>
            </a:r>
            <a:r>
              <a:rPr sz="1600" b="1" dirty="0">
                <a:solidFill>
                  <a:srgbClr val="1A1A1A"/>
                </a:solidFill>
              </a:rPr>
              <a:t>ακά πάνω από MLP — δεν δικαιολογεί την πρόσθετη πολυπλοκότητα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FFFFFF"/>
                </a:solidFill>
              </a:rPr>
              <a:t>LOSO — MLP: Απ</a:t>
            </a:r>
            <a:r>
              <a:rPr sz="2500" b="1" i="0" dirty="0" err="1">
                <a:solidFill>
                  <a:srgbClr val="FFFFFF"/>
                </a:solidFill>
              </a:rPr>
              <a:t>οτελέσμ</a:t>
            </a:r>
            <a:r>
              <a:rPr sz="2500" b="1" i="0" dirty="0">
                <a:solidFill>
                  <a:srgbClr val="FFFFFF"/>
                </a:solidFill>
              </a:rPr>
              <a:t>ατα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911642"/>
              </p:ext>
            </p:extLst>
          </p:nvPr>
        </p:nvGraphicFramePr>
        <p:xfrm>
          <a:off x="457200" y="1261872"/>
          <a:ext cx="6583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Hidden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Drop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0,552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0,529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0,574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0,543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solidFill>
                            <a:srgbClr val="1A1A1A"/>
                          </a:solidFill>
                        </a:rPr>
                        <a:t>M</a:t>
                      </a:r>
                      <a:r>
                        <a:rPr sz="1300" b="1" dirty="0" err="1">
                          <a:solidFill>
                            <a:srgbClr val="1A1A1A"/>
                          </a:solidFill>
                        </a:rPr>
                        <a:t>lp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0,553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0,548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 descr="mlp_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61872"/>
            <a:ext cx="4416552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MLP — Training History (Όλα τα configs)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lp_1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3721608" cy="2642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0332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mlp_1</a:t>
            </a:r>
          </a:p>
        </p:txBody>
      </p:sp>
      <p:pic>
        <p:nvPicPr>
          <p:cNvPr id="9" name="Picture 8" descr="mlp_2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261872"/>
            <a:ext cx="3721608" cy="26426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33672" y="370332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mlp_2</a:t>
            </a:r>
          </a:p>
        </p:txBody>
      </p:sp>
      <p:pic>
        <p:nvPicPr>
          <p:cNvPr id="11" name="Picture 10" descr="mlp_3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261872"/>
            <a:ext cx="3721608" cy="2642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10144" y="370332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mlp_3</a:t>
            </a:r>
          </a:p>
        </p:txBody>
      </p:sp>
      <p:pic>
        <p:nvPicPr>
          <p:cNvPr id="13" name="Picture 12" descr="mlp_4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9352"/>
            <a:ext cx="3721608" cy="2642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0080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mlp_4</a:t>
            </a:r>
          </a:p>
        </p:txBody>
      </p:sp>
      <p:pic>
        <p:nvPicPr>
          <p:cNvPr id="15" name="Picture 14" descr="mlp_5_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3959352"/>
            <a:ext cx="3721608" cy="2642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33672" y="640080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mlp_5</a:t>
            </a:r>
          </a:p>
        </p:txBody>
      </p:sp>
      <p:pic>
        <p:nvPicPr>
          <p:cNvPr id="17" name="Picture 16" descr="mlp_6_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3959352"/>
            <a:ext cx="3721608" cy="2642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10144" y="640080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mlp_6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LOSO — CNN: Αναλυτικά Αποτελέσματα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07111"/>
              </p:ext>
            </p:extLst>
          </p:nvPr>
        </p:nvGraphicFramePr>
        <p:xfrm>
          <a:off x="457200" y="1261872"/>
          <a:ext cx="6583680" cy="534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546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Τύπος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0,530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0,541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0,586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0,553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0,577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0,581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residual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0,564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0,514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freq_aware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0,603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5466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</a:rPr>
                        <a:t>nn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deep_head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0,562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0,566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Picture 7" descr="cnn_9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61872"/>
            <a:ext cx="4416552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FFFFFF"/>
                </a:solidFill>
              </a:rPr>
              <a:t>CNN — Training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22110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cnn_6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3083" y="6400800"/>
            <a:ext cx="22110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cnn_7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8966" y="6400800"/>
            <a:ext cx="22110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cnn_8</a:t>
            </a:r>
          </a:p>
        </p:txBody>
      </p:sp>
      <p:pic>
        <p:nvPicPr>
          <p:cNvPr id="13" name="Picture 12" descr="cnn_9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65072"/>
            <a:ext cx="4897192" cy="4705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54849" y="6400800"/>
            <a:ext cx="22110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cnn_9</a:t>
            </a:r>
          </a:p>
        </p:txBody>
      </p:sp>
      <p:pic>
        <p:nvPicPr>
          <p:cNvPr id="15" name="Picture 14" descr="cnn_10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742" y="1465072"/>
            <a:ext cx="5375776" cy="47050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0732" y="6400800"/>
            <a:ext cx="22110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cnn_10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FFFFFF"/>
                </a:solidFill>
              </a:rPr>
              <a:t>LOSO — CNN-LSTM: Απ</a:t>
            </a:r>
            <a:r>
              <a:rPr sz="2500" b="1" i="0" dirty="0" err="1">
                <a:solidFill>
                  <a:srgbClr val="FFFFFF"/>
                </a:solidFill>
              </a:rPr>
              <a:t>οτελέσμ</a:t>
            </a:r>
            <a:r>
              <a:rPr sz="2500" b="1" i="0" dirty="0">
                <a:solidFill>
                  <a:srgbClr val="FFFFFF"/>
                </a:solidFill>
              </a:rPr>
              <a:t>ατα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14075"/>
              </p:ext>
            </p:extLst>
          </p:nvPr>
        </p:nvGraphicFramePr>
        <p:xfrm>
          <a:off x="457200" y="1261872"/>
          <a:ext cx="658367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LSTM 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BiDir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0,566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</a:rPr>
                        <a:t>0,577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0,566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</a:rPr>
                        <a:t>0,539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l</a:t>
                      </a: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300" b="1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0,504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0,508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A1A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 descr="cl_4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61872"/>
            <a:ext cx="4416552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1947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</a:rPr>
              <a:t>cl_6: val F1=0,930 αλλά eval UAR=0,504 — χαρακτηριστικό overfitting με augmentation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FFFFFF"/>
                </a:solidFill>
              </a:rPr>
              <a:t>CNN-LSTM — Training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_1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3721608" cy="2642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0332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cl_1</a:t>
            </a:r>
          </a:p>
        </p:txBody>
      </p:sp>
      <p:pic>
        <p:nvPicPr>
          <p:cNvPr id="9" name="Picture 8" descr="cl_2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261872"/>
            <a:ext cx="3721608" cy="26426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33672" y="370332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cl_2</a:t>
            </a:r>
          </a:p>
        </p:txBody>
      </p:sp>
      <p:pic>
        <p:nvPicPr>
          <p:cNvPr id="11" name="Picture 10" descr="cl_3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261872"/>
            <a:ext cx="3721608" cy="2642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10144" y="370332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cl_3</a:t>
            </a:r>
          </a:p>
        </p:txBody>
      </p:sp>
      <p:pic>
        <p:nvPicPr>
          <p:cNvPr id="13" name="Picture 12" descr="cl_4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9352"/>
            <a:ext cx="3721608" cy="2642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0080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cl_4</a:t>
            </a:r>
          </a:p>
        </p:txBody>
      </p:sp>
      <p:pic>
        <p:nvPicPr>
          <p:cNvPr id="15" name="Picture 14" descr="cl_5_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3959352"/>
            <a:ext cx="3721608" cy="2642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33672" y="640080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cl_5</a:t>
            </a:r>
          </a:p>
        </p:txBody>
      </p:sp>
      <p:pic>
        <p:nvPicPr>
          <p:cNvPr id="17" name="Picture 16" descr="cl_6_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3959352"/>
            <a:ext cx="3721608" cy="2642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10144" y="6400800"/>
            <a:ext cx="3721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cl_6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LOSO — wav2vec2: Αποτελέσματα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61872"/>
          <a:ext cx="502920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W-F1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Phase 1 (frozen encoder)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Phase 2 (fine-tuned)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0,680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0,681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Βελτίωση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+0,130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+0,194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7355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Frozen encoder ανεπαρκής — emotion πληροφορία δεν ανακτάται χωρίς fine-tuning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Fine-tuning ανώτερων 4 layers απαραίτητο για το τελικό άλμα απόδοσης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19 συνολικά epochs (5 frozen + 14 fine-tune)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Best val F1: 0,722</a:t>
            </a:r>
          </a:p>
        </p:txBody>
      </p:sp>
      <p:pic>
        <p:nvPicPr>
          <p:cNvPr id="9" name="Picture 8" descr="confusion_fine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61872"/>
            <a:ext cx="59710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wav2vec2 — Training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53" y="1261872"/>
            <a:ext cx="9345280" cy="37867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wav2vec2 — Layer Probing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Logistic regression probe πάνω στα mean-pooled hidden states κάθε transformer layer: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84832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UAR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0 (feature extractor)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0,654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0,687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12 (output)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0,674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9" descr="layer_prob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61872"/>
            <a:ext cx="6885432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wav2vec2 — Attention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840480" cy="5340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Attention pooling — δεν χρησιμοποιεί ομοιόμορφα όλο το utterance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Διαφορετική κατανομή attention ανά emotion class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1A"/>
                </a:solidFill>
              </a:rPr>
              <a:t>  — Angry: εστίαση σε έντονα transient σημεία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1A"/>
                </a:solidFill>
              </a:rPr>
              <a:t>  — Neutral: πιο ομοιόμορφη κατανομή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Τα emotion cues είναι τοπικά στο χρόνο</a:t>
            </a:r>
          </a:p>
        </p:txBody>
      </p:sp>
      <p:pic>
        <p:nvPicPr>
          <p:cNvPr id="8" name="Picture 7" descr="attention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61872"/>
            <a:ext cx="7159752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Robustness σε Θόρυβο — Gaussian Noise (UAR)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61872"/>
          <a:ext cx="1127454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4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45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Μοντέλο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Clean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 dB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10 dB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5 dB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0 dB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0,603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0,589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0,557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0,517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0,464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wav2vec2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0,556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0,371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0,283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0,252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47872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CNN είναι το πιο ανθεκτικό — χάνει ~0,14 UAR από clean σε 0 dB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wav2vec2 καταρρέει σε χαμηλά SNR (0,670 → 0,252 στα 0 dB) — pretrained σε clean speech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CNN-LSTM ευάλωτο — πέφτει σε 0,383 ήδη στα 20 dB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MLP σταθερό — handcrafted features πιο ανθεκτικά σε Gaussian θόρυβο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Robustness σε Θόρυβο — Καμπύλες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obustness_curves.png"/>
          <p:cNvPicPr>
            <a:picLocks noChangeAspect="1"/>
          </p:cNvPicPr>
          <p:nvPr/>
        </p:nvPicPr>
        <p:blipFill rotWithShape="1">
          <a:blip r:embed="rId2"/>
          <a:srcRect l="-241" t="15674" b="730"/>
          <a:stretch/>
        </p:blipFill>
        <p:spPr>
          <a:xfrm>
            <a:off x="1279006" y="1143000"/>
            <a:ext cx="9057197" cy="2840850"/>
          </a:xfrm>
          <a:prstGeom prst="rect">
            <a:avLst/>
          </a:prstGeom>
        </p:spPr>
      </p:pic>
      <p:pic>
        <p:nvPicPr>
          <p:cNvPr id="8" name="Picture 7" descr="robustness_heatmap.png">
            <a:extLst>
              <a:ext uri="{FF2B5EF4-FFF2-40B4-BE49-F238E27FC236}">
                <a16:creationId xmlns:a16="http://schemas.microsoft.com/office/drawing/2014/main" id="{C446DE38-83E4-4B22-B805-09CE06BE6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530" y="3983850"/>
            <a:ext cx="8794150" cy="2848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FFFFFF"/>
                </a:solidFill>
              </a:rPr>
              <a:t>Robustness — Απ</a:t>
            </a:r>
            <a:r>
              <a:rPr sz="2500" b="1" i="0" dirty="0" err="1">
                <a:solidFill>
                  <a:srgbClr val="FFFFFF"/>
                </a:solidFill>
              </a:rPr>
              <a:t>οτέλεσμ</a:t>
            </a:r>
            <a:r>
              <a:rPr sz="2500" b="1" i="0" dirty="0">
                <a:solidFill>
                  <a:srgbClr val="FFFFFF"/>
                </a:solidFill>
              </a:rPr>
              <a:t>α Denoising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enoising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28" y="1280160"/>
            <a:ext cx="8659907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 err="1">
                <a:solidFill>
                  <a:srgbClr val="FFFFFF"/>
                </a:solidFill>
              </a:rPr>
              <a:t>Σύγκριση</a:t>
            </a:r>
            <a:r>
              <a:rPr sz="2500" b="1" i="0" dirty="0">
                <a:solidFill>
                  <a:srgbClr val="FFFFFF"/>
                </a:solidFill>
              </a:rPr>
              <a:t>: 80/20 vs LOSO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61872"/>
          <a:ext cx="11274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9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Οικογένεια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80/20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UAR 80/20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LOSO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UAR LOSO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Μεταβολή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MLP-5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mlp_1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-0,059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CNN-6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0,617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cnn_9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0,603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-0,014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CL-1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cl_4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-0,002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wav2vec2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fine-tuned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0,727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fine-tuned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0,670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-0,057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47872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CNN έχει τη μικρότερη πτώση (-0,014) — πιο σταθερό σε speaker-independent αξιολόγηση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wav2vec2 μεγαλύτερη πτώση σε UAR αλλά παραμένει καλύτερο απόλυτα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Το best config αλλάζει μεταξύ πρωτοκόλλων (MLP-5 → mlp_1, CNN-6 → cnn_9)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A"/>
                </a:solidFill>
              </a:rPr>
              <a:t>• Το LOSO αποκαλύπτει overfitting του random split — η 'καλή' επίδοση εν μέρει τυχαία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33780"/>
            <a:ext cx="12188952" cy="63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Συμπεράσματα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274552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 dirty="0">
                <a:solidFill>
                  <a:srgbClr val="1A1A1A"/>
                </a:solidFill>
              </a:rPr>
              <a:t>• wav2vec2 — κα</a:t>
            </a:r>
            <a:r>
              <a:rPr sz="1700" b="1" dirty="0" err="1">
                <a:solidFill>
                  <a:srgbClr val="1A1A1A"/>
                </a:solidFill>
              </a:rPr>
              <a:t>λύτερο</a:t>
            </a:r>
            <a:r>
              <a:rPr sz="1700" b="1" dirty="0">
                <a:solidFill>
                  <a:srgbClr val="1A1A1A"/>
                </a:solidFill>
              </a:rPr>
              <a:t> </a:t>
            </a:r>
            <a:r>
              <a:rPr sz="1700" b="1" dirty="0" err="1">
                <a:solidFill>
                  <a:srgbClr val="1A1A1A"/>
                </a:solidFill>
              </a:rPr>
              <a:t>σε</a:t>
            </a:r>
            <a:r>
              <a:rPr sz="1700" b="1" dirty="0">
                <a:solidFill>
                  <a:srgbClr val="1A1A1A"/>
                </a:solidFill>
              </a:rPr>
              <a:t> καθα</a:t>
            </a:r>
            <a:r>
              <a:rPr sz="1700" b="1" dirty="0" err="1">
                <a:solidFill>
                  <a:srgbClr val="1A1A1A"/>
                </a:solidFill>
              </a:rPr>
              <a:t>ρή</a:t>
            </a:r>
            <a:r>
              <a:rPr sz="1700" b="1" dirty="0">
                <a:solidFill>
                  <a:srgbClr val="1A1A1A"/>
                </a:solidFill>
              </a:rPr>
              <a:t> </a:t>
            </a:r>
            <a:r>
              <a:rPr sz="1700" b="1" dirty="0" err="1">
                <a:solidFill>
                  <a:srgbClr val="1A1A1A"/>
                </a:solidFill>
              </a:rPr>
              <a:t>ομιλί</a:t>
            </a:r>
            <a:r>
              <a:rPr sz="1700" b="1" dirty="0">
                <a:solidFill>
                  <a:srgbClr val="1A1A1A"/>
                </a:solidFill>
              </a:rPr>
              <a:t>α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Pretrained αναπα</a:t>
            </a:r>
            <a:r>
              <a:rPr sz="1500" b="0" dirty="0" err="1">
                <a:solidFill>
                  <a:srgbClr val="1A1A1A"/>
                </a:solidFill>
              </a:rPr>
              <a:t>ράστ</a:t>
            </a:r>
            <a:r>
              <a:rPr sz="1500" b="0" dirty="0">
                <a:solidFill>
                  <a:srgbClr val="1A1A1A"/>
                </a:solidFill>
              </a:rPr>
              <a:t>αση δίνει το μεγαλύτερο πλεονέκτημα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Fine-tuning α</a:t>
            </a:r>
            <a:r>
              <a:rPr sz="1500" b="0" dirty="0" err="1">
                <a:solidFill>
                  <a:srgbClr val="1A1A1A"/>
                </a:solidFill>
              </a:rPr>
              <a:t>νώτερων</a:t>
            </a:r>
            <a:r>
              <a:rPr sz="1500" b="0" dirty="0">
                <a:solidFill>
                  <a:srgbClr val="1A1A1A"/>
                </a:solidFill>
              </a:rPr>
              <a:t> layers απαρα</a:t>
            </a:r>
            <a:r>
              <a:rPr sz="1500" b="0" dirty="0" err="1">
                <a:solidFill>
                  <a:srgbClr val="1A1A1A"/>
                </a:solidFill>
              </a:rPr>
              <a:t>ίτητο</a:t>
            </a:r>
            <a:r>
              <a:rPr sz="1500" b="0" dirty="0">
                <a:solidFill>
                  <a:srgbClr val="1A1A1A"/>
                </a:solidFill>
              </a:rPr>
              <a:t> — frozen encoder α</a:t>
            </a:r>
            <a:r>
              <a:rPr sz="1500" b="0" dirty="0" err="1">
                <a:solidFill>
                  <a:srgbClr val="1A1A1A"/>
                </a:solidFill>
              </a:rPr>
              <a:t>νε</a:t>
            </a:r>
            <a:r>
              <a:rPr sz="1500" b="0" dirty="0">
                <a:solidFill>
                  <a:srgbClr val="1A1A1A"/>
                </a:solidFill>
              </a:rPr>
              <a:t>παρκές</a:t>
            </a:r>
          </a:p>
          <a:p>
            <a:pPr>
              <a:spcBef>
                <a:spcPts val="900"/>
              </a:spcBef>
            </a:pPr>
            <a:r>
              <a:rPr sz="1700" b="1" dirty="0">
                <a:solidFill>
                  <a:srgbClr val="1A1A1A"/>
                </a:solidFill>
              </a:rPr>
              <a:t>• CNN </a:t>
            </a:r>
            <a:r>
              <a:rPr sz="1700" b="1" dirty="0" err="1">
                <a:solidFill>
                  <a:srgbClr val="1A1A1A"/>
                </a:solidFill>
              </a:rPr>
              <a:t>freq_aware</a:t>
            </a:r>
            <a:r>
              <a:rPr sz="1700" b="1" dirty="0">
                <a:solidFill>
                  <a:srgbClr val="1A1A1A"/>
                </a:solidFill>
              </a:rPr>
              <a:t> (</a:t>
            </a:r>
            <a:r>
              <a:rPr sz="1700" b="1" dirty="0" err="1">
                <a:solidFill>
                  <a:srgbClr val="1A1A1A"/>
                </a:solidFill>
              </a:rPr>
              <a:t>cnn</a:t>
            </a:r>
            <a:r>
              <a:rPr lang="en-US" sz="1700" b="1" dirty="0">
                <a:solidFill>
                  <a:srgbClr val="1A1A1A"/>
                </a:solidFill>
              </a:rPr>
              <a:t> </a:t>
            </a:r>
            <a:r>
              <a:rPr sz="1700" b="1" dirty="0">
                <a:solidFill>
                  <a:srgbClr val="1A1A1A"/>
                </a:solidFill>
              </a:rPr>
              <a:t>9) — κα</a:t>
            </a:r>
            <a:r>
              <a:rPr sz="1700" b="1" dirty="0" err="1">
                <a:solidFill>
                  <a:srgbClr val="1A1A1A"/>
                </a:solidFill>
              </a:rPr>
              <a:t>λύτερο</a:t>
            </a:r>
            <a:r>
              <a:rPr sz="1700" b="1" dirty="0">
                <a:solidFill>
                  <a:srgbClr val="1A1A1A"/>
                </a:solidFill>
              </a:rPr>
              <a:t> from-scratch &amp; π</a:t>
            </a:r>
            <a:r>
              <a:rPr sz="1700" b="1" dirty="0" err="1">
                <a:solidFill>
                  <a:srgbClr val="1A1A1A"/>
                </a:solidFill>
              </a:rPr>
              <a:t>ιο</a:t>
            </a:r>
            <a:r>
              <a:rPr sz="1700" b="1" dirty="0">
                <a:solidFill>
                  <a:srgbClr val="1A1A1A"/>
                </a:solidFill>
              </a:rPr>
              <a:t> α</a:t>
            </a:r>
            <a:r>
              <a:rPr sz="1700" b="1" dirty="0" err="1">
                <a:solidFill>
                  <a:srgbClr val="1A1A1A"/>
                </a:solidFill>
              </a:rPr>
              <a:t>νθεκτικό</a:t>
            </a:r>
            <a:r>
              <a:rPr sz="1700" b="1" dirty="0">
                <a:solidFill>
                  <a:srgbClr val="1A1A1A"/>
                </a:solidFill>
              </a:rPr>
              <a:t> </a:t>
            </a:r>
            <a:r>
              <a:rPr sz="1700" b="1" dirty="0" err="1">
                <a:solidFill>
                  <a:srgbClr val="1A1A1A"/>
                </a:solidFill>
              </a:rPr>
              <a:t>σε</a:t>
            </a:r>
            <a:r>
              <a:rPr sz="1700" b="1" dirty="0">
                <a:solidFill>
                  <a:srgbClr val="1A1A1A"/>
                </a:solidFill>
              </a:rPr>
              <a:t> Gaussian </a:t>
            </a:r>
            <a:r>
              <a:rPr sz="1700" b="1" dirty="0" err="1">
                <a:solidFill>
                  <a:srgbClr val="1A1A1A"/>
                </a:solidFill>
              </a:rPr>
              <a:t>θόρυ</a:t>
            </a:r>
            <a:r>
              <a:rPr sz="1700" b="1" dirty="0">
                <a:solidFill>
                  <a:srgbClr val="1A1A1A"/>
                </a:solidFill>
              </a:rPr>
              <a:t>βο</a:t>
            </a: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Freq-aware pooling: </a:t>
            </a:r>
            <a:r>
              <a:rPr sz="1500" b="0" dirty="0" err="1">
                <a:solidFill>
                  <a:srgbClr val="1A1A1A"/>
                </a:solidFill>
              </a:rPr>
              <a:t>δι</a:t>
            </a:r>
            <a:r>
              <a:rPr sz="1500" b="0" dirty="0">
                <a:solidFill>
                  <a:srgbClr val="1A1A1A"/>
                </a:solidFill>
              </a:rPr>
              <a:t>ατηρεί φασματική δομή που βοηθά το SER</a:t>
            </a:r>
          </a:p>
          <a:p>
            <a:pPr>
              <a:spcBef>
                <a:spcPts val="900"/>
              </a:spcBef>
            </a:pPr>
            <a:r>
              <a:rPr sz="1700" b="1" dirty="0">
                <a:solidFill>
                  <a:srgbClr val="1A1A1A"/>
                </a:solidFill>
              </a:rPr>
              <a:t>• MLP — </a:t>
            </a:r>
            <a:r>
              <a:rPr sz="1700" b="1" dirty="0" err="1">
                <a:solidFill>
                  <a:srgbClr val="1A1A1A"/>
                </a:solidFill>
              </a:rPr>
              <a:t>ισχυρό</a:t>
            </a:r>
            <a:r>
              <a:rPr sz="1700" b="1" dirty="0">
                <a:solidFill>
                  <a:srgbClr val="1A1A1A"/>
                </a:solidFill>
              </a:rPr>
              <a:t> </a:t>
            </a:r>
            <a:r>
              <a:rPr sz="1700" b="1" dirty="0" err="1">
                <a:solidFill>
                  <a:srgbClr val="1A1A1A"/>
                </a:solidFill>
              </a:rPr>
              <a:t>με</a:t>
            </a:r>
            <a:r>
              <a:rPr sz="1700" b="1" dirty="0">
                <a:solidFill>
                  <a:srgbClr val="1A1A1A"/>
                </a:solidFill>
              </a:rPr>
              <a:t> χα</a:t>
            </a:r>
            <a:r>
              <a:rPr sz="1700" b="1" dirty="0" err="1">
                <a:solidFill>
                  <a:srgbClr val="1A1A1A"/>
                </a:solidFill>
              </a:rPr>
              <a:t>μηλό</a:t>
            </a:r>
            <a:r>
              <a:rPr sz="1700" b="1" dirty="0">
                <a:solidFill>
                  <a:srgbClr val="1A1A1A"/>
                </a:solidFill>
              </a:rPr>
              <a:t> computational </a:t>
            </a:r>
            <a:r>
              <a:rPr sz="1700" b="1" dirty="0" err="1">
                <a:solidFill>
                  <a:srgbClr val="1A1A1A"/>
                </a:solidFill>
              </a:rPr>
              <a:t>κόστος</a:t>
            </a:r>
            <a:endParaRPr sz="1700" b="1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Handcrafted features α</a:t>
            </a:r>
            <a:r>
              <a:rPr sz="1500" b="0" dirty="0" err="1">
                <a:solidFill>
                  <a:srgbClr val="1A1A1A"/>
                </a:solidFill>
              </a:rPr>
              <a:t>ντ</a:t>
            </a:r>
            <a:r>
              <a:rPr sz="1500" b="0" dirty="0">
                <a:solidFill>
                  <a:srgbClr val="1A1A1A"/>
                </a:solidFill>
              </a:rPr>
              <a:t>αγωνιστικά παρά την απώλεια χρονικής δομής</a:t>
            </a:r>
          </a:p>
          <a:p>
            <a:pPr>
              <a:spcBef>
                <a:spcPts val="900"/>
              </a:spcBef>
            </a:pPr>
            <a:r>
              <a:rPr sz="1700" b="1" dirty="0">
                <a:solidFill>
                  <a:srgbClr val="1A1A1A"/>
                </a:solidFill>
              </a:rPr>
              <a:t>• CNN-LST</a:t>
            </a:r>
            <a:r>
              <a:rPr lang="en-US" sz="1700" b="1" dirty="0">
                <a:solidFill>
                  <a:srgbClr val="1A1A1A"/>
                </a:solidFill>
              </a:rPr>
              <a:t>M</a:t>
            </a:r>
            <a:r>
              <a:rPr lang="el-GR" sz="1700" b="1" dirty="0">
                <a:solidFill>
                  <a:srgbClr val="1A1A1A"/>
                </a:solidFill>
              </a:rPr>
              <a:t> — δεν δικαιολογεί την πολυπλοκότητα στο συγκεκριμένο setup</a:t>
            </a:r>
            <a:endParaRPr sz="1700" b="1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0" dirty="0">
                <a:solidFill>
                  <a:srgbClr val="1A1A1A"/>
                </a:solidFill>
              </a:rPr>
              <a:t>  — </a:t>
            </a:r>
            <a:r>
              <a:rPr sz="1500" b="0" dirty="0" err="1">
                <a:solidFill>
                  <a:srgbClr val="1A1A1A"/>
                </a:solidFill>
              </a:rPr>
              <a:t>Μικρό</a:t>
            </a:r>
            <a:r>
              <a:rPr sz="1500" b="0" dirty="0">
                <a:solidFill>
                  <a:srgbClr val="1A1A1A"/>
                </a:solidFill>
              </a:rPr>
              <a:t> dataset + speaker-independent α</a:t>
            </a:r>
            <a:r>
              <a:rPr sz="1500" b="0" dirty="0" err="1">
                <a:solidFill>
                  <a:srgbClr val="1A1A1A"/>
                </a:solidFill>
              </a:rPr>
              <a:t>ξιολόγηση</a:t>
            </a:r>
            <a:r>
              <a:rPr sz="1500" b="0" dirty="0">
                <a:solidFill>
                  <a:srgbClr val="1A1A1A"/>
                </a:solidFill>
              </a:rPr>
              <a:t> → LSTM </a:t>
            </a:r>
            <a:r>
              <a:rPr sz="1500" b="0" dirty="0" err="1">
                <a:solidFill>
                  <a:srgbClr val="1A1A1A"/>
                </a:solidFill>
              </a:rPr>
              <a:t>ευάλωτο</a:t>
            </a:r>
            <a:r>
              <a:rPr sz="1500" b="0" dirty="0">
                <a:solidFill>
                  <a:srgbClr val="1A1A1A"/>
                </a:solidFill>
              </a:rPr>
              <a:t> </a:t>
            </a:r>
            <a:r>
              <a:rPr sz="1500" b="0" dirty="0" err="1">
                <a:solidFill>
                  <a:srgbClr val="1A1A1A"/>
                </a:solidFill>
              </a:rPr>
              <a:t>σε</a:t>
            </a:r>
            <a:r>
              <a:rPr sz="1500" b="0" dirty="0">
                <a:solidFill>
                  <a:srgbClr val="1A1A1A"/>
                </a:solidFill>
              </a:rPr>
              <a:t> overfitting</a:t>
            </a:r>
          </a:p>
          <a:p>
            <a:pPr>
              <a:spcBef>
                <a:spcPts val="900"/>
              </a:spcBef>
            </a:pPr>
            <a:r>
              <a:rPr sz="1700" b="1" dirty="0">
                <a:solidFill>
                  <a:srgbClr val="1A1A1A"/>
                </a:solidFill>
              </a:rPr>
              <a:t>• </a:t>
            </a:r>
            <a:r>
              <a:rPr sz="1700" b="1" dirty="0" err="1">
                <a:solidFill>
                  <a:srgbClr val="1A1A1A"/>
                </a:solidFill>
              </a:rPr>
              <a:t>Το</a:t>
            </a:r>
            <a:r>
              <a:rPr sz="1700" b="1" dirty="0">
                <a:solidFill>
                  <a:srgbClr val="1A1A1A"/>
                </a:solidFill>
              </a:rPr>
              <a:t> π</a:t>
            </a:r>
            <a:r>
              <a:rPr sz="1700" b="1" dirty="0" err="1">
                <a:solidFill>
                  <a:srgbClr val="1A1A1A"/>
                </a:solidFill>
              </a:rPr>
              <a:t>ρωτόκολλο</a:t>
            </a:r>
            <a:r>
              <a:rPr sz="1700" b="1" dirty="0">
                <a:solidFill>
                  <a:srgbClr val="1A1A1A"/>
                </a:solidFill>
              </a:rPr>
              <a:t> α</a:t>
            </a:r>
            <a:r>
              <a:rPr sz="1700" b="1" dirty="0" err="1">
                <a:solidFill>
                  <a:srgbClr val="1A1A1A"/>
                </a:solidFill>
              </a:rPr>
              <a:t>ξιολόγησης</a:t>
            </a:r>
            <a:r>
              <a:rPr sz="1700" b="1" dirty="0">
                <a:solidFill>
                  <a:srgbClr val="1A1A1A"/>
                </a:solidFill>
              </a:rPr>
              <a:t> α</a:t>
            </a:r>
            <a:r>
              <a:rPr sz="1700" b="1" dirty="0" err="1">
                <a:solidFill>
                  <a:srgbClr val="1A1A1A"/>
                </a:solidFill>
              </a:rPr>
              <a:t>λλάζει</a:t>
            </a:r>
            <a:r>
              <a:rPr sz="1700" b="1" dirty="0">
                <a:solidFill>
                  <a:srgbClr val="1A1A1A"/>
                </a:solidFill>
              </a:rPr>
              <a:t> </a:t>
            </a:r>
            <a:r>
              <a:rPr sz="1700" b="1" dirty="0" err="1">
                <a:solidFill>
                  <a:srgbClr val="1A1A1A"/>
                </a:solidFill>
              </a:rPr>
              <a:t>ουσι</a:t>
            </a:r>
            <a:r>
              <a:rPr sz="1700" b="1" dirty="0">
                <a:solidFill>
                  <a:srgbClr val="1A1A1A"/>
                </a:solidFill>
              </a:rPr>
              <a:t>αστικά την κατάταξη των μοντέλων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2080</Words>
  <Application>Microsoft Office PowerPoint</Application>
  <PresentationFormat>Custom</PresentationFormat>
  <Paragraphs>731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Orestis Tsagketas</cp:lastModifiedBy>
  <cp:revision>8</cp:revision>
  <dcterms:created xsi:type="dcterms:W3CDTF">2013-01-27T09:14:16Z</dcterms:created>
  <dcterms:modified xsi:type="dcterms:W3CDTF">2026-06-22T18:58:22Z</dcterms:modified>
  <cp:category/>
</cp:coreProperties>
</file>